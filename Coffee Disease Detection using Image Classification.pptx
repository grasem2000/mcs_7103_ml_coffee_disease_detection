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73" r:id="rId3"/>
    <p:sldId id="274" r:id="rId4"/>
    <p:sldId id="256" r:id="rId5"/>
    <p:sldId id="257" r:id="rId6"/>
    <p:sldId id="258" r:id="rId7"/>
    <p:sldId id="259" r:id="rId8"/>
    <p:sldId id="260" r:id="rId9"/>
    <p:sldId id="261" r:id="rId10"/>
    <p:sldId id="262" r:id="rId11"/>
    <p:sldId id="263" r:id="rId12"/>
    <p:sldId id="265" r:id="rId13"/>
    <p:sldId id="266" r:id="rId14"/>
    <p:sldId id="267" r:id="rId15"/>
    <p:sldId id="268" r:id="rId16"/>
    <p:sldId id="269" r:id="rId17"/>
    <p:sldId id="270" r:id="rId18"/>
    <p:sldId id="271" r:id="rId19"/>
    <p:sldId id="272"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6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D001E-FFB8-46FD-9B57-3B43C07C7A35}"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3ABA21-F81D-48FE-8E2E-746FE79AD961}" type="slidenum">
              <a:rPr lang="en-US" smtClean="0"/>
              <a:t>‹#›</a:t>
            </a:fld>
            <a:endParaRPr lang="en-US"/>
          </a:p>
        </p:txBody>
      </p:sp>
    </p:spTree>
    <p:extLst>
      <p:ext uri="{BB962C8B-B14F-4D97-AF65-F5344CB8AC3E}">
        <p14:creationId xmlns:p14="http://schemas.microsoft.com/office/powerpoint/2010/main" val="321879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3.jpeg"/><Relationship Id="rId4" Type="http://schemas.openxmlformats.org/officeDocument/2006/relationships/image" Target="NUL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03BDC-4CC6-C0B7-5F16-BE310035D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995826-9387-4799-A700-40C6FDC003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C0B330-A6A4-D9F4-813D-1577F550D15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CA93310-C88F-21DB-C8F8-FEBBCF0F90BF}"/>
              </a:ext>
            </a:extLst>
          </p:cNvPr>
          <p:cNvSpPr>
            <a:spLocks noGrp="1"/>
          </p:cNvSpPr>
          <p:nvPr>
            <p:ph type="ftr" sz="quarter" idx="11"/>
          </p:nvPr>
        </p:nvSpPr>
        <p:spPr/>
        <p:txBody>
          <a:bodyPr/>
          <a:lstStyle/>
          <a:p>
            <a:r>
              <a:rPr lang="en-US"/>
              <a:t>Coffee Disease Detection using image classification</a:t>
            </a:r>
          </a:p>
        </p:txBody>
      </p:sp>
      <p:sp>
        <p:nvSpPr>
          <p:cNvPr id="6" name="Slide Number Placeholder 5">
            <a:extLst>
              <a:ext uri="{FF2B5EF4-FFF2-40B4-BE49-F238E27FC236}">
                <a16:creationId xmlns:a16="http://schemas.microsoft.com/office/drawing/2014/main" id="{C5C2B499-DB5E-6C2D-E93D-E4882CEDA479}"/>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3929976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9122-F7CB-AA99-E79C-6109D2ECD5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F0D809-0D29-54E0-4867-A73C28610D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C3858-8B7E-8875-E323-AA0D254FD30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80BE5C3-30AF-373A-B1C5-89C8B9BC4E26}"/>
              </a:ext>
            </a:extLst>
          </p:cNvPr>
          <p:cNvSpPr>
            <a:spLocks noGrp="1"/>
          </p:cNvSpPr>
          <p:nvPr>
            <p:ph type="ftr" sz="quarter" idx="11"/>
          </p:nvPr>
        </p:nvSpPr>
        <p:spPr/>
        <p:txBody>
          <a:bodyPr/>
          <a:lstStyle/>
          <a:p>
            <a:r>
              <a:rPr lang="en-US"/>
              <a:t>Coffee Disease Detection using image classification</a:t>
            </a:r>
          </a:p>
        </p:txBody>
      </p:sp>
      <p:sp>
        <p:nvSpPr>
          <p:cNvPr id="6" name="Slide Number Placeholder 5">
            <a:extLst>
              <a:ext uri="{FF2B5EF4-FFF2-40B4-BE49-F238E27FC236}">
                <a16:creationId xmlns:a16="http://schemas.microsoft.com/office/drawing/2014/main" id="{07648588-3DD0-AAEB-A9F8-5684C3D2F38C}"/>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14751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FB30-2E40-2479-6F83-45F9F43238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79E343-6FD0-85F4-EC5A-492B1DB62D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9FA0C7-0977-1825-AF02-441F6CB43C3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83DD556-60E4-A3A9-7768-071E7BCEEA52}"/>
              </a:ext>
            </a:extLst>
          </p:cNvPr>
          <p:cNvSpPr>
            <a:spLocks noGrp="1"/>
          </p:cNvSpPr>
          <p:nvPr>
            <p:ph type="ftr" sz="quarter" idx="11"/>
          </p:nvPr>
        </p:nvSpPr>
        <p:spPr/>
        <p:txBody>
          <a:bodyPr/>
          <a:lstStyle/>
          <a:p>
            <a:r>
              <a:rPr lang="en-US"/>
              <a:t>Coffee Disease Detection using image classification</a:t>
            </a:r>
          </a:p>
        </p:txBody>
      </p:sp>
      <p:sp>
        <p:nvSpPr>
          <p:cNvPr id="6" name="Slide Number Placeholder 5">
            <a:extLst>
              <a:ext uri="{FF2B5EF4-FFF2-40B4-BE49-F238E27FC236}">
                <a16:creationId xmlns:a16="http://schemas.microsoft.com/office/drawing/2014/main" id="{C5DFBD0C-F361-1FFE-E4C4-A0409BFB4F99}"/>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862504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3A7A-1DB6-C9D3-40F0-5D5BC806C7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8C7354-588F-2DE0-0344-129A437155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224A47-2D66-0709-AA36-F72838F02B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AB16FE-59C9-6CB4-C52D-CC23386F72D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3D4B5F0-7688-E3D6-12F1-1E2932F1458C}"/>
              </a:ext>
            </a:extLst>
          </p:cNvPr>
          <p:cNvSpPr>
            <a:spLocks noGrp="1"/>
          </p:cNvSpPr>
          <p:nvPr>
            <p:ph type="ftr" sz="quarter" idx="11"/>
          </p:nvPr>
        </p:nvSpPr>
        <p:spPr/>
        <p:txBody>
          <a:bodyPr/>
          <a:lstStyle/>
          <a:p>
            <a:r>
              <a:rPr lang="en-US"/>
              <a:t>Coffee Disease Detection using image classification</a:t>
            </a:r>
          </a:p>
        </p:txBody>
      </p:sp>
      <p:sp>
        <p:nvSpPr>
          <p:cNvPr id="7" name="Slide Number Placeholder 6">
            <a:extLst>
              <a:ext uri="{FF2B5EF4-FFF2-40B4-BE49-F238E27FC236}">
                <a16:creationId xmlns:a16="http://schemas.microsoft.com/office/drawing/2014/main" id="{3971EA89-C542-02B6-79A0-0850A5295661}"/>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3280793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67FC-B792-417C-C05E-BDE7DF281A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9E9A0F-D6DE-2393-C7BC-032A969DD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C50293-D7A7-1E79-2024-A062B67E47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790E39-9689-06E5-5E57-878218E2C9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E9CB63-6BF1-3129-9CE7-10C3A2E83F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329BAB-6DAF-0E8A-2D97-E20BAF91034C}"/>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B83AFC6-3FA5-72E2-9881-AD87DE77A2B4}"/>
              </a:ext>
            </a:extLst>
          </p:cNvPr>
          <p:cNvSpPr>
            <a:spLocks noGrp="1"/>
          </p:cNvSpPr>
          <p:nvPr>
            <p:ph type="ftr" sz="quarter" idx="11"/>
          </p:nvPr>
        </p:nvSpPr>
        <p:spPr/>
        <p:txBody>
          <a:bodyPr/>
          <a:lstStyle/>
          <a:p>
            <a:r>
              <a:rPr lang="en-US"/>
              <a:t>Coffee Disease Detection using image classification</a:t>
            </a:r>
          </a:p>
        </p:txBody>
      </p:sp>
      <p:sp>
        <p:nvSpPr>
          <p:cNvPr id="9" name="Slide Number Placeholder 8">
            <a:extLst>
              <a:ext uri="{FF2B5EF4-FFF2-40B4-BE49-F238E27FC236}">
                <a16:creationId xmlns:a16="http://schemas.microsoft.com/office/drawing/2014/main" id="{40708A15-6DD7-760D-7F7E-AC57D111D400}"/>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532196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9FF1-5388-876C-9120-9C4D6D05D1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C44925-DDA6-CCC8-BBB0-51E140F762C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8414589-05DC-0A85-27A9-203E00FDEAD2}"/>
              </a:ext>
            </a:extLst>
          </p:cNvPr>
          <p:cNvSpPr>
            <a:spLocks noGrp="1"/>
          </p:cNvSpPr>
          <p:nvPr>
            <p:ph type="ftr" sz="quarter" idx="11"/>
          </p:nvPr>
        </p:nvSpPr>
        <p:spPr/>
        <p:txBody>
          <a:bodyPr/>
          <a:lstStyle/>
          <a:p>
            <a:r>
              <a:rPr lang="en-US"/>
              <a:t>Coffee Disease Detection using image classification</a:t>
            </a:r>
          </a:p>
        </p:txBody>
      </p:sp>
      <p:sp>
        <p:nvSpPr>
          <p:cNvPr id="5" name="Slide Number Placeholder 4">
            <a:extLst>
              <a:ext uri="{FF2B5EF4-FFF2-40B4-BE49-F238E27FC236}">
                <a16:creationId xmlns:a16="http://schemas.microsoft.com/office/drawing/2014/main" id="{696F0D07-D70B-09BF-D07C-273AFBD5201F}"/>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4221354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5E56F1-D313-0653-2F4C-EAA12FD0515D}"/>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9B70345-FF59-2F19-AD65-42FC1B2D0B98}"/>
              </a:ext>
            </a:extLst>
          </p:cNvPr>
          <p:cNvSpPr>
            <a:spLocks noGrp="1"/>
          </p:cNvSpPr>
          <p:nvPr>
            <p:ph type="ftr" sz="quarter" idx="11"/>
          </p:nvPr>
        </p:nvSpPr>
        <p:spPr/>
        <p:txBody>
          <a:bodyPr/>
          <a:lstStyle/>
          <a:p>
            <a:r>
              <a:rPr lang="en-US"/>
              <a:t>Coffee Disease Detection using image classification</a:t>
            </a:r>
          </a:p>
        </p:txBody>
      </p:sp>
      <p:sp>
        <p:nvSpPr>
          <p:cNvPr id="4" name="Slide Number Placeholder 3">
            <a:extLst>
              <a:ext uri="{FF2B5EF4-FFF2-40B4-BE49-F238E27FC236}">
                <a16:creationId xmlns:a16="http://schemas.microsoft.com/office/drawing/2014/main" id="{1D6181AD-4F44-E154-E4B0-D8CB10C229D9}"/>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3719264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1257-3185-FEF7-0304-3ED4F71915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9DA990-17E9-A018-B622-A618E04ED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4C5B53-823C-4F02-4CAB-CDC0E8A09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EE9EF-18C8-B621-6490-BA378B5014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941F1B1-B284-42D8-B58C-64E6B93B28C3}"/>
              </a:ext>
            </a:extLst>
          </p:cNvPr>
          <p:cNvSpPr>
            <a:spLocks noGrp="1"/>
          </p:cNvSpPr>
          <p:nvPr>
            <p:ph type="ftr" sz="quarter" idx="11"/>
          </p:nvPr>
        </p:nvSpPr>
        <p:spPr/>
        <p:txBody>
          <a:bodyPr/>
          <a:lstStyle/>
          <a:p>
            <a:r>
              <a:rPr lang="en-US"/>
              <a:t>Coffee Disease Detection using image classification</a:t>
            </a:r>
          </a:p>
        </p:txBody>
      </p:sp>
      <p:sp>
        <p:nvSpPr>
          <p:cNvPr id="7" name="Slide Number Placeholder 6">
            <a:extLst>
              <a:ext uri="{FF2B5EF4-FFF2-40B4-BE49-F238E27FC236}">
                <a16:creationId xmlns:a16="http://schemas.microsoft.com/office/drawing/2014/main" id="{15818E57-E86F-26F8-4E90-D317E070F71A}"/>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80787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BD53-1F1C-3183-A542-CA2A35AE10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9B8538-D27A-84A9-8B3F-36D332C2ED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C8D9E4-B649-1D92-ABDB-9ED9AF9573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5B631C-6A76-6E04-2970-8F7126596F2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266F822-724F-53AC-3E4C-D498A3EF730D}"/>
              </a:ext>
            </a:extLst>
          </p:cNvPr>
          <p:cNvSpPr>
            <a:spLocks noGrp="1"/>
          </p:cNvSpPr>
          <p:nvPr>
            <p:ph type="ftr" sz="quarter" idx="11"/>
          </p:nvPr>
        </p:nvSpPr>
        <p:spPr/>
        <p:txBody>
          <a:bodyPr/>
          <a:lstStyle/>
          <a:p>
            <a:r>
              <a:rPr lang="en-US"/>
              <a:t>Coffee Disease Detection using image classification</a:t>
            </a:r>
          </a:p>
        </p:txBody>
      </p:sp>
      <p:sp>
        <p:nvSpPr>
          <p:cNvPr id="7" name="Slide Number Placeholder 6">
            <a:extLst>
              <a:ext uri="{FF2B5EF4-FFF2-40B4-BE49-F238E27FC236}">
                <a16:creationId xmlns:a16="http://schemas.microsoft.com/office/drawing/2014/main" id="{887CD3D6-9F81-737D-EAC2-983B222448F0}"/>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31695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3A505-4C55-8A52-0CE1-C8E37FD647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9D4DF4-3970-286C-6260-65F50CB8CF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60398-060D-8855-00A3-7E01ED59AE4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1202E9E-D246-C5DA-B828-35F6D028BD88}"/>
              </a:ext>
            </a:extLst>
          </p:cNvPr>
          <p:cNvSpPr>
            <a:spLocks noGrp="1"/>
          </p:cNvSpPr>
          <p:nvPr>
            <p:ph type="ftr" sz="quarter" idx="11"/>
          </p:nvPr>
        </p:nvSpPr>
        <p:spPr/>
        <p:txBody>
          <a:bodyPr/>
          <a:lstStyle/>
          <a:p>
            <a:r>
              <a:rPr lang="en-US"/>
              <a:t>Coffee Disease Detection using image classification</a:t>
            </a:r>
          </a:p>
        </p:txBody>
      </p:sp>
      <p:sp>
        <p:nvSpPr>
          <p:cNvPr id="6" name="Slide Number Placeholder 5">
            <a:extLst>
              <a:ext uri="{FF2B5EF4-FFF2-40B4-BE49-F238E27FC236}">
                <a16:creationId xmlns:a16="http://schemas.microsoft.com/office/drawing/2014/main" id="{98457420-4D63-2079-6828-6C1AB0F45EFB}"/>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690616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560861-068A-76B8-9853-2777D53817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9FF1B8-93B9-5126-B6C1-74311D9C3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E3CB48-15FA-5553-F44B-7812BE4EE1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D79017D-DEF0-D0B1-6C1D-EA27A6A7522E}"/>
              </a:ext>
            </a:extLst>
          </p:cNvPr>
          <p:cNvSpPr>
            <a:spLocks noGrp="1"/>
          </p:cNvSpPr>
          <p:nvPr>
            <p:ph type="ftr" sz="quarter" idx="11"/>
          </p:nvPr>
        </p:nvSpPr>
        <p:spPr/>
        <p:txBody>
          <a:bodyPr/>
          <a:lstStyle/>
          <a:p>
            <a:r>
              <a:rPr lang="en-US"/>
              <a:t>Coffee Disease Detection using image classification</a:t>
            </a:r>
          </a:p>
        </p:txBody>
      </p:sp>
      <p:sp>
        <p:nvSpPr>
          <p:cNvPr id="6" name="Slide Number Placeholder 5">
            <a:extLst>
              <a:ext uri="{FF2B5EF4-FFF2-40B4-BE49-F238E27FC236}">
                <a16:creationId xmlns:a16="http://schemas.microsoft.com/office/drawing/2014/main" id="{A259C190-1F74-DF8E-D25B-6FB82E9413FF}"/>
              </a:ext>
            </a:extLst>
          </p:cNvPr>
          <p:cNvSpPr>
            <a:spLocks noGrp="1"/>
          </p:cNvSpPr>
          <p:nvPr>
            <p:ph type="sldNum" sz="quarter" idx="12"/>
          </p:nvPr>
        </p:nvSpPr>
        <p:spPr/>
        <p:txBody>
          <a:bodyPr/>
          <a:lstStyle/>
          <a:p>
            <a:fld id="{28C7BBA2-0500-46CC-B94C-18B5A6FB54A8}" type="slidenum">
              <a:rPr lang="en-US" smtClean="0"/>
              <a:t>‹#›</a:t>
            </a:fld>
            <a:endParaRPr lang="en-US"/>
          </a:p>
        </p:txBody>
      </p:sp>
    </p:spTree>
    <p:extLst>
      <p:ext uri="{BB962C8B-B14F-4D97-AF65-F5344CB8AC3E}">
        <p14:creationId xmlns:p14="http://schemas.microsoft.com/office/powerpoint/2010/main" val="2103264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pearson_ppt_logo">
            <a:extLst>
              <a:ext uri="{FF2B5EF4-FFF2-40B4-BE49-F238E27FC236}">
                <a16:creationId xmlns:a16="http://schemas.microsoft.com/office/drawing/2014/main" id="{9D0AE864-4B00-DAE4-86A6-32DBD276A8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6292850"/>
            <a:ext cx="1727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2">
            <a:extLst>
              <a:ext uri="{FF2B5EF4-FFF2-40B4-BE49-F238E27FC236}">
                <a16:creationId xmlns:a16="http://schemas.microsoft.com/office/drawing/2014/main" id="{8B682E49-B4D2-97D0-DD8A-C064A9D84DDA}"/>
              </a:ext>
            </a:extLst>
          </p:cNvPr>
          <p:cNvSpPr>
            <a:spLocks noChangeShapeType="1"/>
          </p:cNvSpPr>
          <p:nvPr userDrawn="1"/>
        </p:nvSpPr>
        <p:spPr bwMode="auto">
          <a:xfrm>
            <a:off x="0" y="2667000"/>
            <a:ext cx="6604000" cy="0"/>
          </a:xfrm>
          <a:prstGeom prst="line">
            <a:avLst/>
          </a:prstGeom>
          <a:noFill/>
          <a:ln w="12700">
            <a:solidFill>
              <a:srgbClr val="077C9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Bookshelf Symbol 2" charset="0"/>
              <a:ea typeface="ＭＳ Ｐゴシック" charset="0"/>
            </a:endParaRPr>
          </a:p>
        </p:txBody>
      </p:sp>
      <p:sp>
        <p:nvSpPr>
          <p:cNvPr id="6" name="Text Box 14" descr="Pink tissue paper">
            <a:extLst>
              <a:ext uri="{FF2B5EF4-FFF2-40B4-BE49-F238E27FC236}">
                <a16:creationId xmlns:a16="http://schemas.microsoft.com/office/drawing/2014/main" id="{0EC33668-8E46-C256-967A-E2EDC6B16D93}"/>
              </a:ext>
            </a:extLst>
          </p:cNvPr>
          <p:cNvSpPr txBox="1">
            <a:spLocks noChangeArrowheads="1"/>
          </p:cNvSpPr>
          <p:nvPr userDrawn="1"/>
        </p:nvSpPr>
        <p:spPr bwMode="auto">
          <a:xfrm>
            <a:off x="711200" y="304800"/>
            <a:ext cx="711200" cy="731838"/>
          </a:xfrm>
          <a:prstGeom prst="rect">
            <a:avLst/>
          </a:prstGeom>
          <a:noFill/>
          <a:ln>
            <a:noFill/>
          </a:ln>
          <a:effectLst/>
          <a:extLst>
            <a:ext uri="{909E8E84-426E-40dd-AFC4-6F175D3DCCD1}">
              <a14:hiddenFill xmlns="" xmlns:a14="http://schemas.microsoft.com/office/drawing/2010/main">
                <a:blipFill dpi="0" rotWithShape="0">
                  <a:blip xmlns:r="http://schemas.openxmlformats.org/officeDocument/2006/relationships" r:embed="rId3"/>
                  <a:srcRect/>
                  <a:tile tx="0" ty="0" sx="100000" sy="100000" flip="none" algn="tl"/>
                </a:blip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defRPr/>
            </a:pPr>
            <a:r>
              <a:rPr lang="en-US" sz="4200" b="1">
                <a:solidFill>
                  <a:srgbClr val="4C7816"/>
                </a:solidFill>
                <a:latin typeface="Arial" charset="0"/>
                <a:ea typeface="ＭＳ Ｐゴシック" charset="0"/>
              </a:rPr>
              <a:t>5</a:t>
            </a:r>
          </a:p>
        </p:txBody>
      </p:sp>
      <p:sp>
        <p:nvSpPr>
          <p:cNvPr id="7" name="Text Box 15" descr="Pink tissue paper">
            <a:extLst>
              <a:ext uri="{FF2B5EF4-FFF2-40B4-BE49-F238E27FC236}">
                <a16:creationId xmlns:a16="http://schemas.microsoft.com/office/drawing/2014/main" id="{227EE400-7110-B41D-BF38-8C76CDC0C171}"/>
              </a:ext>
            </a:extLst>
          </p:cNvPr>
          <p:cNvSpPr txBox="1">
            <a:spLocks noChangeArrowheads="1"/>
          </p:cNvSpPr>
          <p:nvPr userDrawn="1"/>
        </p:nvSpPr>
        <p:spPr bwMode="auto">
          <a:xfrm>
            <a:off x="406400" y="2057400"/>
            <a:ext cx="1117600" cy="579438"/>
          </a:xfrm>
          <a:prstGeom prst="rect">
            <a:avLst/>
          </a:prstGeom>
          <a:noFill/>
          <a:ln>
            <a:noFill/>
          </a:ln>
          <a:effectLst/>
          <a:extLst>
            <a:ext uri="{909E8E84-426E-40dd-AFC4-6F175D3DCCD1}">
              <a14:hiddenFill xmlns="" xmlns:a14="http://schemas.microsoft.com/office/drawing/2010/main">
                <a:blipFill dpi="0" rotWithShape="0">
                  <a:blip xmlns:r="http://schemas.openxmlformats.org/officeDocument/2006/relationships" r:embed="rId4"/>
                  <a:srcRect/>
                  <a:tile tx="0" ty="0" sx="100000" sy="100000" flip="none" algn="tl"/>
                </a:blip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3200" b="1">
                <a:solidFill>
                  <a:srgbClr val="CD8019"/>
                </a:solidFill>
                <a:latin typeface="Arial" charset="0"/>
                <a:ea typeface="ＭＳ Ｐゴシック" charset="0"/>
              </a:rPr>
              <a:t>5.2</a:t>
            </a:r>
          </a:p>
        </p:txBody>
      </p:sp>
      <p:sp>
        <p:nvSpPr>
          <p:cNvPr id="8" name="Line 21">
            <a:extLst>
              <a:ext uri="{FF2B5EF4-FFF2-40B4-BE49-F238E27FC236}">
                <a16:creationId xmlns:a16="http://schemas.microsoft.com/office/drawing/2014/main" id="{1B18ECBA-8F95-5FF3-9748-F8F9A93B5DFC}"/>
              </a:ext>
            </a:extLst>
          </p:cNvPr>
          <p:cNvSpPr>
            <a:spLocks noChangeShapeType="1"/>
          </p:cNvSpPr>
          <p:nvPr userDrawn="1"/>
        </p:nvSpPr>
        <p:spPr bwMode="auto">
          <a:xfrm rot="5400000" flipH="1">
            <a:off x="6096000" y="-5867400"/>
            <a:ext cx="0" cy="12192000"/>
          </a:xfrm>
          <a:prstGeom prst="line">
            <a:avLst/>
          </a:prstGeom>
          <a:noFill/>
          <a:ln w="63500">
            <a:solidFill>
              <a:srgbClr val="077C9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Bookshelf Symbol 2" charset="0"/>
              <a:ea typeface="ＭＳ Ｐゴシック" charset="0"/>
            </a:endParaRPr>
          </a:p>
        </p:txBody>
      </p:sp>
      <p:sp>
        <p:nvSpPr>
          <p:cNvPr id="9" name="Line 23">
            <a:extLst>
              <a:ext uri="{FF2B5EF4-FFF2-40B4-BE49-F238E27FC236}">
                <a16:creationId xmlns:a16="http://schemas.microsoft.com/office/drawing/2014/main" id="{FCE5D6EF-1ECB-072B-E143-3807FAEEFE7E}"/>
              </a:ext>
            </a:extLst>
          </p:cNvPr>
          <p:cNvSpPr>
            <a:spLocks noChangeShapeType="1"/>
          </p:cNvSpPr>
          <p:nvPr userDrawn="1"/>
        </p:nvSpPr>
        <p:spPr bwMode="auto">
          <a:xfrm rot="5400000" flipH="1">
            <a:off x="1016000" y="600075"/>
            <a:ext cx="0" cy="812800"/>
          </a:xfrm>
          <a:prstGeom prst="line">
            <a:avLst/>
          </a:prstGeom>
          <a:noFill/>
          <a:ln w="38100">
            <a:solidFill>
              <a:srgbClr val="B6CEAA"/>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Bookshelf Symbol 2" charset="0"/>
              <a:ea typeface="ＭＳ Ｐゴシック" charset="0"/>
            </a:endParaRPr>
          </a:p>
        </p:txBody>
      </p:sp>
      <p:sp>
        <p:nvSpPr>
          <p:cNvPr id="10" name="Line 24">
            <a:extLst>
              <a:ext uri="{FF2B5EF4-FFF2-40B4-BE49-F238E27FC236}">
                <a16:creationId xmlns:a16="http://schemas.microsoft.com/office/drawing/2014/main" id="{2D68E2A6-D4B3-1126-5C7F-238065297986}"/>
              </a:ext>
            </a:extLst>
          </p:cNvPr>
          <p:cNvSpPr>
            <a:spLocks noChangeShapeType="1"/>
          </p:cNvSpPr>
          <p:nvPr userDrawn="1"/>
        </p:nvSpPr>
        <p:spPr bwMode="auto">
          <a:xfrm rot="16200000" flipH="1" flipV="1">
            <a:off x="139700" y="495300"/>
            <a:ext cx="990600" cy="0"/>
          </a:xfrm>
          <a:prstGeom prst="line">
            <a:avLst/>
          </a:prstGeom>
          <a:noFill/>
          <a:ln w="38100">
            <a:solidFill>
              <a:srgbClr val="B6CEAA"/>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Bookshelf Symbol 2" charset="0"/>
              <a:ea typeface="ＭＳ Ｐゴシック" charset="0"/>
            </a:endParaRPr>
          </a:p>
        </p:txBody>
      </p:sp>
      <p:pic>
        <p:nvPicPr>
          <p:cNvPr id="11" name="Picture 27" descr="0321385179_cover">
            <a:extLst>
              <a:ext uri="{FF2B5EF4-FFF2-40B4-BE49-F238E27FC236}">
                <a16:creationId xmlns:a16="http://schemas.microsoft.com/office/drawing/2014/main" id="{632AAF69-3146-9061-E4E4-B3816F4724E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27384" y="2057400"/>
            <a:ext cx="4155016"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31">
            <a:extLst>
              <a:ext uri="{FF2B5EF4-FFF2-40B4-BE49-F238E27FC236}">
                <a16:creationId xmlns:a16="http://schemas.microsoft.com/office/drawing/2014/main" id="{5C15D7E9-3E57-86C6-772E-9EC299010032}"/>
              </a:ext>
            </a:extLst>
          </p:cNvPr>
          <p:cNvSpPr>
            <a:spLocks/>
          </p:cNvSpPr>
          <p:nvPr userDrawn="1"/>
        </p:nvSpPr>
        <p:spPr bwMode="auto">
          <a:xfrm>
            <a:off x="0" y="2057400"/>
            <a:ext cx="1524000" cy="609600"/>
          </a:xfrm>
          <a:custGeom>
            <a:avLst/>
            <a:gdLst>
              <a:gd name="T0" fmla="*/ 0 w 96"/>
              <a:gd name="T1" fmla="*/ 0 h 192"/>
              <a:gd name="T2" fmla="*/ 1143000 w 96"/>
              <a:gd name="T3" fmla="*/ 0 h 192"/>
              <a:gd name="T4" fmla="*/ 1143000 w 96"/>
              <a:gd name="T5" fmla="*/ 609600 h 192"/>
              <a:gd name="T6" fmla="*/ 0 60000 65536"/>
              <a:gd name="T7" fmla="*/ 0 60000 65536"/>
              <a:gd name="T8" fmla="*/ 0 60000 65536"/>
            </a:gdLst>
            <a:ahLst/>
            <a:cxnLst>
              <a:cxn ang="T6">
                <a:pos x="T0" y="T1"/>
              </a:cxn>
              <a:cxn ang="T7">
                <a:pos x="T2" y="T3"/>
              </a:cxn>
              <a:cxn ang="T8">
                <a:pos x="T4" y="T5"/>
              </a:cxn>
            </a:cxnLst>
            <a:rect l="0" t="0" r="r" b="b"/>
            <a:pathLst>
              <a:path w="96" h="192">
                <a:moveTo>
                  <a:pt x="0" y="0"/>
                </a:moveTo>
                <a:lnTo>
                  <a:pt x="96" y="0"/>
                </a:lnTo>
                <a:lnTo>
                  <a:pt x="96" y="192"/>
                </a:lnTo>
              </a:path>
            </a:pathLst>
          </a:custGeom>
          <a:noFill/>
          <a:ln w="12700" cap="flat" cmpd="sng">
            <a:solidFill>
              <a:srgbClr val="077C97"/>
            </a:solidFill>
            <a:prstDash val="solid"/>
            <a:round/>
            <a:headEnd/>
            <a:tailEnd/>
          </a:ln>
          <a:effectLst/>
          <a:extLst>
            <a:ext uri="{909E8E84-426E-40DD-AFC4-6F175D3DCCD1}">
              <a14:hiddenFill xmlns:a14="http://schemas.microsoft.com/office/drawing/2010/main">
                <a:solidFill>
                  <a:srgbClr val="FFCCCC"/>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endParaRPr lang="en-US" sz="1800"/>
          </a:p>
        </p:txBody>
      </p:sp>
      <p:sp>
        <p:nvSpPr>
          <p:cNvPr id="605200" name="Rectangle 16"/>
          <p:cNvSpPr>
            <a:spLocks noGrp="1" noChangeArrowheads="1"/>
          </p:cNvSpPr>
          <p:nvPr>
            <p:ph type="ctrTitle" sz="quarter"/>
          </p:nvPr>
        </p:nvSpPr>
        <p:spPr>
          <a:xfrm>
            <a:off x="1625600" y="609600"/>
            <a:ext cx="7924800" cy="1295400"/>
          </a:xfrm>
        </p:spPr>
        <p:txBody>
          <a:bodyPr anchor="t"/>
          <a:lstStyle>
            <a:lvl1pPr>
              <a:defRPr sz="3600">
                <a:latin typeface="Times New Roman" charset="0"/>
              </a:defRPr>
            </a:lvl1pPr>
          </a:lstStyle>
          <a:p>
            <a:pPr lvl="0"/>
            <a:r>
              <a:rPr lang="en-US" noProof="0"/>
              <a:t>Click to edit Master title style</a:t>
            </a:r>
          </a:p>
        </p:txBody>
      </p:sp>
      <p:sp>
        <p:nvSpPr>
          <p:cNvPr id="605201" name="Rectangle 17"/>
          <p:cNvSpPr>
            <a:spLocks noGrp="1" noChangeArrowheads="1"/>
          </p:cNvSpPr>
          <p:nvPr>
            <p:ph type="subTitle" sz="quarter" idx="1"/>
          </p:nvPr>
        </p:nvSpPr>
        <p:spPr>
          <a:xfrm>
            <a:off x="609600" y="2819400"/>
            <a:ext cx="5994400" cy="3352800"/>
          </a:xfrm>
        </p:spPr>
        <p:txBody>
          <a:bodyPr/>
          <a:lstStyle>
            <a:lvl1pPr marL="0" indent="0">
              <a:buFont typeface="Wingdings" charset="0"/>
              <a:buNone/>
              <a:defRPr sz="2800">
                <a:solidFill>
                  <a:srgbClr val="077C97"/>
                </a:solidFill>
                <a:latin typeface="Arial Narrow" charset="0"/>
              </a:defRPr>
            </a:lvl1pPr>
          </a:lstStyle>
          <a:p>
            <a:pPr lvl="0"/>
            <a:r>
              <a:rPr lang="en-US" noProof="0"/>
              <a:t>Click to edit Master subtitle style</a:t>
            </a:r>
          </a:p>
        </p:txBody>
      </p:sp>
      <p:sp>
        <p:nvSpPr>
          <p:cNvPr id="13" name="Footer Placeholder 9">
            <a:extLst>
              <a:ext uri="{FF2B5EF4-FFF2-40B4-BE49-F238E27FC236}">
                <a16:creationId xmlns:a16="http://schemas.microsoft.com/office/drawing/2014/main" id="{76FCB1D5-C139-8C6A-2732-E00E1D50155B}"/>
              </a:ext>
            </a:extLst>
          </p:cNvPr>
          <p:cNvSpPr>
            <a:spLocks noGrp="1"/>
          </p:cNvSpPr>
          <p:nvPr>
            <p:ph type="ftr" sz="quarter" idx="10"/>
          </p:nvPr>
        </p:nvSpPr>
        <p:spPr>
          <a:xfrm>
            <a:off x="2336800" y="6305550"/>
            <a:ext cx="9245600" cy="476250"/>
          </a:xfrm>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20240433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E3AF5A61-68F3-C3DE-7375-CAA23D0D07CA}"/>
              </a:ext>
            </a:extLst>
          </p:cNvPr>
          <p:cNvSpPr>
            <a:spLocks noGrp="1" noChangeArrowheads="1"/>
          </p:cNvSpPr>
          <p:nvPr>
            <p:ph type="sldNum" sz="quarter" idx="10"/>
          </p:nvPr>
        </p:nvSpPr>
        <p:spPr>
          <a:ln/>
        </p:spPr>
        <p:txBody>
          <a:bodyPr/>
          <a:lstStyle>
            <a:lvl1pPr>
              <a:defRPr/>
            </a:lvl1pPr>
          </a:lstStyle>
          <a:p>
            <a:r>
              <a:rPr lang="en-US" altLang="en-US"/>
              <a:t>Slide 5.2- </a:t>
            </a:r>
            <a:fld id="{843FFA53-0610-41C1-9E51-2F86535B887B}" type="slidenum">
              <a:rPr lang="en-US" altLang="en-US"/>
              <a:pPr/>
              <a:t>‹#›</a:t>
            </a:fld>
            <a:endParaRPr lang="en-CA" altLang="en-US"/>
          </a:p>
        </p:txBody>
      </p:sp>
      <p:sp>
        <p:nvSpPr>
          <p:cNvPr id="5" name="Footer Placeholder 9">
            <a:extLst>
              <a:ext uri="{FF2B5EF4-FFF2-40B4-BE49-F238E27FC236}">
                <a16:creationId xmlns:a16="http://schemas.microsoft.com/office/drawing/2014/main" id="{1D64B73D-8C74-681F-F713-EB89DD3F10A1}"/>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392491903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EC302DCC-CE71-3643-2C18-C5878BABDB7A}"/>
              </a:ext>
            </a:extLst>
          </p:cNvPr>
          <p:cNvSpPr>
            <a:spLocks noGrp="1" noChangeArrowheads="1"/>
          </p:cNvSpPr>
          <p:nvPr>
            <p:ph type="sldNum" sz="quarter" idx="10"/>
          </p:nvPr>
        </p:nvSpPr>
        <p:spPr>
          <a:ln/>
        </p:spPr>
        <p:txBody>
          <a:bodyPr/>
          <a:lstStyle>
            <a:lvl1pPr>
              <a:defRPr/>
            </a:lvl1pPr>
          </a:lstStyle>
          <a:p>
            <a:r>
              <a:rPr lang="en-US" altLang="en-US"/>
              <a:t>Slide 5.2- </a:t>
            </a:r>
            <a:fld id="{3B777C17-AB93-4086-A49C-BADF289574DC}" type="slidenum">
              <a:rPr lang="en-US" altLang="en-US"/>
              <a:pPr/>
              <a:t>‹#›</a:t>
            </a:fld>
            <a:endParaRPr lang="en-CA" altLang="en-US"/>
          </a:p>
        </p:txBody>
      </p:sp>
      <p:sp>
        <p:nvSpPr>
          <p:cNvPr id="5" name="Footer Placeholder 9">
            <a:extLst>
              <a:ext uri="{FF2B5EF4-FFF2-40B4-BE49-F238E27FC236}">
                <a16:creationId xmlns:a16="http://schemas.microsoft.com/office/drawing/2014/main" id="{AB30C9BD-4878-128A-A42A-6143295B7793}"/>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244052259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9DB24770-CE7A-653D-E9AB-F18B9B6E6AB7}"/>
              </a:ext>
            </a:extLst>
          </p:cNvPr>
          <p:cNvSpPr>
            <a:spLocks noGrp="1" noChangeArrowheads="1"/>
          </p:cNvSpPr>
          <p:nvPr>
            <p:ph type="sldNum" sz="quarter" idx="10"/>
          </p:nvPr>
        </p:nvSpPr>
        <p:spPr>
          <a:ln/>
        </p:spPr>
        <p:txBody>
          <a:bodyPr/>
          <a:lstStyle>
            <a:lvl1pPr>
              <a:defRPr/>
            </a:lvl1pPr>
          </a:lstStyle>
          <a:p>
            <a:r>
              <a:rPr lang="en-US" altLang="en-US"/>
              <a:t>Slide 5.2- </a:t>
            </a:r>
            <a:fld id="{00D3ACD1-34BE-4891-90AB-298005062082}" type="slidenum">
              <a:rPr lang="en-US" altLang="en-US"/>
              <a:pPr/>
              <a:t>‹#›</a:t>
            </a:fld>
            <a:endParaRPr lang="en-CA" altLang="en-US"/>
          </a:p>
        </p:txBody>
      </p:sp>
      <p:sp>
        <p:nvSpPr>
          <p:cNvPr id="6" name="Footer Placeholder 9">
            <a:extLst>
              <a:ext uri="{FF2B5EF4-FFF2-40B4-BE49-F238E27FC236}">
                <a16:creationId xmlns:a16="http://schemas.microsoft.com/office/drawing/2014/main" id="{6A196540-E17F-209D-BF99-9C95C72F8740}"/>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305464069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E60F3116-B99F-9B28-5180-42CD58FC4FE8}"/>
              </a:ext>
            </a:extLst>
          </p:cNvPr>
          <p:cNvSpPr>
            <a:spLocks noGrp="1" noChangeArrowheads="1"/>
          </p:cNvSpPr>
          <p:nvPr>
            <p:ph type="sldNum" sz="quarter" idx="10"/>
          </p:nvPr>
        </p:nvSpPr>
        <p:spPr>
          <a:ln/>
        </p:spPr>
        <p:txBody>
          <a:bodyPr/>
          <a:lstStyle>
            <a:lvl1pPr>
              <a:defRPr/>
            </a:lvl1pPr>
          </a:lstStyle>
          <a:p>
            <a:r>
              <a:rPr lang="en-US" altLang="en-US"/>
              <a:t>Slide 5.2- </a:t>
            </a:r>
            <a:fld id="{1365BE51-5CBE-417B-BBC5-3FAB7484F384}" type="slidenum">
              <a:rPr lang="en-US" altLang="en-US"/>
              <a:pPr/>
              <a:t>‹#›</a:t>
            </a:fld>
            <a:endParaRPr lang="en-CA" altLang="en-US"/>
          </a:p>
        </p:txBody>
      </p:sp>
      <p:sp>
        <p:nvSpPr>
          <p:cNvPr id="8" name="Footer Placeholder 9">
            <a:extLst>
              <a:ext uri="{FF2B5EF4-FFF2-40B4-BE49-F238E27FC236}">
                <a16:creationId xmlns:a16="http://schemas.microsoft.com/office/drawing/2014/main" id="{7C4CED36-EB84-F037-65AA-A239CF47D6F0}"/>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225121089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5F895DA2-D05E-679D-329D-F7C06804856F}"/>
              </a:ext>
            </a:extLst>
          </p:cNvPr>
          <p:cNvSpPr>
            <a:spLocks noGrp="1" noChangeArrowheads="1"/>
          </p:cNvSpPr>
          <p:nvPr>
            <p:ph type="sldNum" sz="quarter" idx="10"/>
          </p:nvPr>
        </p:nvSpPr>
        <p:spPr>
          <a:ln/>
        </p:spPr>
        <p:txBody>
          <a:bodyPr/>
          <a:lstStyle>
            <a:lvl1pPr>
              <a:defRPr/>
            </a:lvl1pPr>
          </a:lstStyle>
          <a:p>
            <a:r>
              <a:rPr lang="en-US" altLang="en-US"/>
              <a:t>Slide 5.2- </a:t>
            </a:r>
            <a:fld id="{274004B9-BC99-451D-A9AC-E92CF80576BC}" type="slidenum">
              <a:rPr lang="en-US" altLang="en-US"/>
              <a:pPr/>
              <a:t>‹#›</a:t>
            </a:fld>
            <a:endParaRPr lang="en-CA" altLang="en-US"/>
          </a:p>
        </p:txBody>
      </p:sp>
      <p:sp>
        <p:nvSpPr>
          <p:cNvPr id="4" name="Footer Placeholder 9">
            <a:extLst>
              <a:ext uri="{FF2B5EF4-FFF2-40B4-BE49-F238E27FC236}">
                <a16:creationId xmlns:a16="http://schemas.microsoft.com/office/drawing/2014/main" id="{50AD0E89-9F83-6AA1-1ACF-493EE327CF3B}"/>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185589705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1E7C0CD-F42C-E8F7-5127-85DB59EF3649}"/>
              </a:ext>
            </a:extLst>
          </p:cNvPr>
          <p:cNvSpPr>
            <a:spLocks noGrp="1" noChangeArrowheads="1"/>
          </p:cNvSpPr>
          <p:nvPr>
            <p:ph type="sldNum" sz="quarter" idx="10"/>
          </p:nvPr>
        </p:nvSpPr>
        <p:spPr>
          <a:ln/>
        </p:spPr>
        <p:txBody>
          <a:bodyPr/>
          <a:lstStyle>
            <a:lvl1pPr>
              <a:defRPr/>
            </a:lvl1pPr>
          </a:lstStyle>
          <a:p>
            <a:r>
              <a:rPr lang="en-US" altLang="en-US"/>
              <a:t>Slide 5.2- </a:t>
            </a:r>
            <a:fld id="{8CFF710D-9DE3-4D3A-8598-6A37F72BD788}" type="slidenum">
              <a:rPr lang="en-US" altLang="en-US"/>
              <a:pPr/>
              <a:t>‹#›</a:t>
            </a:fld>
            <a:endParaRPr lang="en-CA" altLang="en-US"/>
          </a:p>
        </p:txBody>
      </p:sp>
      <p:sp>
        <p:nvSpPr>
          <p:cNvPr id="3" name="Footer Placeholder 9">
            <a:extLst>
              <a:ext uri="{FF2B5EF4-FFF2-40B4-BE49-F238E27FC236}">
                <a16:creationId xmlns:a16="http://schemas.microsoft.com/office/drawing/2014/main" id="{16186925-DBE9-F3B4-DCC1-5B7CC1C2892D}"/>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349637390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C4E92975-99F8-FA7F-8FF6-D50C494BEE4B}"/>
              </a:ext>
            </a:extLst>
          </p:cNvPr>
          <p:cNvSpPr>
            <a:spLocks noGrp="1" noChangeArrowheads="1"/>
          </p:cNvSpPr>
          <p:nvPr>
            <p:ph type="sldNum" sz="quarter" idx="10"/>
          </p:nvPr>
        </p:nvSpPr>
        <p:spPr>
          <a:ln/>
        </p:spPr>
        <p:txBody>
          <a:bodyPr/>
          <a:lstStyle>
            <a:lvl1pPr>
              <a:defRPr/>
            </a:lvl1pPr>
          </a:lstStyle>
          <a:p>
            <a:r>
              <a:rPr lang="en-US" altLang="en-US"/>
              <a:t>Slide 5.2- </a:t>
            </a:r>
            <a:fld id="{6D0790AE-9AC2-44C7-84C8-ADC0575D7BFE}" type="slidenum">
              <a:rPr lang="en-US" altLang="en-US"/>
              <a:pPr/>
              <a:t>‹#›</a:t>
            </a:fld>
            <a:endParaRPr lang="en-CA" altLang="en-US"/>
          </a:p>
        </p:txBody>
      </p:sp>
      <p:sp>
        <p:nvSpPr>
          <p:cNvPr id="6" name="Footer Placeholder 9">
            <a:extLst>
              <a:ext uri="{FF2B5EF4-FFF2-40B4-BE49-F238E27FC236}">
                <a16:creationId xmlns:a16="http://schemas.microsoft.com/office/drawing/2014/main" id="{9B7D6584-89D6-DCA6-422A-932D72F08FDF}"/>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176213454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BA329113-DFBD-1EF4-CE58-EAB56737CDE8}"/>
              </a:ext>
            </a:extLst>
          </p:cNvPr>
          <p:cNvSpPr>
            <a:spLocks noGrp="1" noChangeArrowheads="1"/>
          </p:cNvSpPr>
          <p:nvPr>
            <p:ph type="sldNum" sz="quarter" idx="10"/>
          </p:nvPr>
        </p:nvSpPr>
        <p:spPr>
          <a:ln/>
        </p:spPr>
        <p:txBody>
          <a:bodyPr/>
          <a:lstStyle>
            <a:lvl1pPr>
              <a:defRPr/>
            </a:lvl1pPr>
          </a:lstStyle>
          <a:p>
            <a:r>
              <a:rPr lang="en-US" altLang="en-US"/>
              <a:t>Slide 5.2- </a:t>
            </a:r>
            <a:fld id="{B3EA069C-2374-477F-856B-74C34AC3B5C3}" type="slidenum">
              <a:rPr lang="en-US" altLang="en-US"/>
              <a:pPr/>
              <a:t>‹#›</a:t>
            </a:fld>
            <a:endParaRPr lang="en-CA" altLang="en-US"/>
          </a:p>
        </p:txBody>
      </p:sp>
      <p:sp>
        <p:nvSpPr>
          <p:cNvPr id="6" name="Footer Placeholder 9">
            <a:extLst>
              <a:ext uri="{FF2B5EF4-FFF2-40B4-BE49-F238E27FC236}">
                <a16:creationId xmlns:a16="http://schemas.microsoft.com/office/drawing/2014/main" id="{BB280FA7-5F03-5F8B-2839-65202AF011FC}"/>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246266598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E4BC87B4-0FEA-AB4D-BC12-FB3080F0EB0F}"/>
              </a:ext>
            </a:extLst>
          </p:cNvPr>
          <p:cNvSpPr>
            <a:spLocks noGrp="1" noChangeArrowheads="1"/>
          </p:cNvSpPr>
          <p:nvPr>
            <p:ph type="sldNum" sz="quarter" idx="10"/>
          </p:nvPr>
        </p:nvSpPr>
        <p:spPr>
          <a:ln/>
        </p:spPr>
        <p:txBody>
          <a:bodyPr/>
          <a:lstStyle>
            <a:lvl1pPr>
              <a:defRPr/>
            </a:lvl1pPr>
          </a:lstStyle>
          <a:p>
            <a:r>
              <a:rPr lang="en-US" altLang="en-US"/>
              <a:t>Slide 5.2- </a:t>
            </a:r>
            <a:fld id="{61955E0E-5C1D-426E-8C5E-1E2F268517AD}" type="slidenum">
              <a:rPr lang="en-US" altLang="en-US"/>
              <a:pPr/>
              <a:t>‹#›</a:t>
            </a:fld>
            <a:endParaRPr lang="en-CA" altLang="en-US"/>
          </a:p>
        </p:txBody>
      </p:sp>
      <p:sp>
        <p:nvSpPr>
          <p:cNvPr id="5" name="Footer Placeholder 9">
            <a:extLst>
              <a:ext uri="{FF2B5EF4-FFF2-40B4-BE49-F238E27FC236}">
                <a16:creationId xmlns:a16="http://schemas.microsoft.com/office/drawing/2014/main" id="{F9B68556-8846-8036-73A8-3A60B4010B2F}"/>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413845417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0"/>
            <a:ext cx="27432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0"/>
            <a:ext cx="80264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B61BCE0E-078C-3492-9F7E-009156D3EFB9}"/>
              </a:ext>
            </a:extLst>
          </p:cNvPr>
          <p:cNvSpPr>
            <a:spLocks noGrp="1" noChangeArrowheads="1"/>
          </p:cNvSpPr>
          <p:nvPr>
            <p:ph type="sldNum" sz="quarter" idx="10"/>
          </p:nvPr>
        </p:nvSpPr>
        <p:spPr>
          <a:ln/>
        </p:spPr>
        <p:txBody>
          <a:bodyPr/>
          <a:lstStyle>
            <a:lvl1pPr>
              <a:defRPr/>
            </a:lvl1pPr>
          </a:lstStyle>
          <a:p>
            <a:r>
              <a:rPr lang="en-US" altLang="en-US"/>
              <a:t>Slide 5.2- </a:t>
            </a:r>
            <a:fld id="{BB7084AF-453E-4678-9116-A69D0B85612E}" type="slidenum">
              <a:rPr lang="en-US" altLang="en-US"/>
              <a:pPr/>
              <a:t>‹#›</a:t>
            </a:fld>
            <a:endParaRPr lang="en-CA" altLang="en-US"/>
          </a:p>
        </p:txBody>
      </p:sp>
      <p:sp>
        <p:nvSpPr>
          <p:cNvPr id="5" name="Footer Placeholder 9">
            <a:extLst>
              <a:ext uri="{FF2B5EF4-FFF2-40B4-BE49-F238E27FC236}">
                <a16:creationId xmlns:a16="http://schemas.microsoft.com/office/drawing/2014/main" id="{5C6188E7-9DF7-1A0A-787A-76A79D411848}"/>
              </a:ext>
            </a:extLst>
          </p:cNvPr>
          <p:cNvSpPr>
            <a:spLocks noGrp="1"/>
          </p:cNvSpPr>
          <p:nvPr>
            <p:ph type="ftr" sz="quarter" idx="11"/>
          </p:nvPr>
        </p:nvSpPr>
        <p:spPr/>
        <p:txBody>
          <a:bodyPr/>
          <a:lstStyle>
            <a:lvl1pPr>
              <a:defRPr/>
            </a:lvl1pPr>
          </a:lstStyle>
          <a:p>
            <a:r>
              <a:rPr lang="en-US" altLang="en-US"/>
              <a:t>Coffee Disease Detection using image classification</a:t>
            </a:r>
          </a:p>
        </p:txBody>
      </p:sp>
    </p:spTree>
    <p:extLst>
      <p:ext uri="{BB962C8B-B14F-4D97-AF65-F5344CB8AC3E}">
        <p14:creationId xmlns:p14="http://schemas.microsoft.com/office/powerpoint/2010/main" val="2557533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CD02D-DFC9-649C-66E6-30410895E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7955A5-231D-A733-E17A-25CFDE46D5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62F2CE-D5E4-8EE2-ABD2-A78B00BCE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4678FC6C-8AA4-0E56-FDBA-C03DC9B66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Coffee Disease Detection using image classification</a:t>
            </a:r>
          </a:p>
        </p:txBody>
      </p:sp>
      <p:sp>
        <p:nvSpPr>
          <p:cNvPr id="6" name="Slide Number Placeholder 5">
            <a:extLst>
              <a:ext uri="{FF2B5EF4-FFF2-40B4-BE49-F238E27FC236}">
                <a16:creationId xmlns:a16="http://schemas.microsoft.com/office/drawing/2014/main" id="{A738F43A-E806-4EAE-BB11-E852E98AB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C7BBA2-0500-46CC-B94C-18B5A6FB54A8}" type="slidenum">
              <a:rPr lang="en-US" smtClean="0"/>
              <a:t>‹#›</a:t>
            </a:fld>
            <a:endParaRPr lang="en-US"/>
          </a:p>
        </p:txBody>
      </p:sp>
    </p:spTree>
    <p:extLst>
      <p:ext uri="{BB962C8B-B14F-4D97-AF65-F5344CB8AC3E}">
        <p14:creationId xmlns:p14="http://schemas.microsoft.com/office/powerpoint/2010/main" val="2916993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FA8156FA-3FA6-4371-5C0E-CA4EC974C848}"/>
              </a:ext>
            </a:extLst>
          </p:cNvPr>
          <p:cNvSpPr>
            <a:spLocks noGrp="1" noChangeArrowheads="1"/>
          </p:cNvSpPr>
          <p:nvPr>
            <p:ph type="sldNum" sz="quarter" idx="4"/>
          </p:nvPr>
        </p:nvSpPr>
        <p:spPr bwMode="auto">
          <a:xfrm>
            <a:off x="9042400" y="6307138"/>
            <a:ext cx="2540000" cy="4746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b="1">
                <a:latin typeface="Arial" panose="020B0604020202020204" pitchFamily="34" charset="0"/>
              </a:defRPr>
            </a:lvl1pPr>
          </a:lstStyle>
          <a:p>
            <a:r>
              <a:rPr lang="en-US" altLang="en-US"/>
              <a:t>Slide 5.2- </a:t>
            </a:r>
            <a:fld id="{D424E213-FBFF-48E6-9FC9-E3FE13D1F6DB}" type="slidenum">
              <a:rPr lang="en-US" altLang="en-US"/>
              <a:pPr/>
              <a:t>‹#›</a:t>
            </a:fld>
            <a:endParaRPr lang="en-CA" altLang="en-US"/>
          </a:p>
        </p:txBody>
      </p:sp>
      <p:sp>
        <p:nvSpPr>
          <p:cNvPr id="451589" name="Rectangle 5">
            <a:extLst>
              <a:ext uri="{FF2B5EF4-FFF2-40B4-BE49-F238E27FC236}">
                <a16:creationId xmlns:a16="http://schemas.microsoft.com/office/drawing/2014/main" id="{43C77AB8-C306-0928-A3EE-3E1DA3FD0566}"/>
              </a:ext>
            </a:extLst>
          </p:cNvPr>
          <p:cNvSpPr>
            <a:spLocks noGrp="1" noChangeArrowheads="1"/>
          </p:cNvSpPr>
          <p:nvPr>
            <p:ph type="title"/>
          </p:nvPr>
        </p:nvSpPr>
        <p:spPr bwMode="auto">
          <a:xfrm>
            <a:off x="609600" y="0"/>
            <a:ext cx="109728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51590" name="Rectangle 6">
            <a:extLst>
              <a:ext uri="{FF2B5EF4-FFF2-40B4-BE49-F238E27FC236}">
                <a16:creationId xmlns:a16="http://schemas.microsoft.com/office/drawing/2014/main" id="{DB6233E2-C626-C3C7-28A2-0C0CD11ED588}"/>
              </a:ext>
            </a:extLst>
          </p:cNvPr>
          <p:cNvSpPr>
            <a:spLocks noGrp="1" noChangeArrowheads="1"/>
          </p:cNvSpPr>
          <p:nvPr>
            <p:ph type="body" idx="1"/>
          </p:nvPr>
        </p:nvSpPr>
        <p:spPr bwMode="auto">
          <a:xfrm>
            <a:off x="609600" y="1600200"/>
            <a:ext cx="10972800" cy="457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0B10337C-A63C-A35A-F7E1-F85FC2934183}"/>
              </a:ext>
            </a:extLst>
          </p:cNvPr>
          <p:cNvSpPr>
            <a:spLocks noGrp="1"/>
          </p:cNvSpPr>
          <p:nvPr>
            <p:ph type="ftr" sz="quarter" idx="3"/>
          </p:nvPr>
        </p:nvSpPr>
        <p:spPr>
          <a:xfrm>
            <a:off x="609600" y="6305550"/>
            <a:ext cx="8432800" cy="476250"/>
          </a:xfrm>
          <a:prstGeom prst="rect">
            <a:avLst/>
          </a:prstGeom>
        </p:spPr>
        <p:txBody>
          <a:bodyPr vert="horz" wrap="square" lIns="91440" tIns="45720" rIns="91440" bIns="45720" numCol="1" anchor="b" anchorCtr="0" compatLnSpc="1">
            <a:prstTxWarp prst="textNoShape">
              <a:avLst/>
            </a:prstTxWarp>
          </a:bodyPr>
          <a:lstStyle>
            <a:lvl1pPr algn="l">
              <a:buFont typeface="Symbol" panose="05050102010706020507" pitchFamily="18" charset="2"/>
              <a:buNone/>
              <a:defRPr sz="1200">
                <a:latin typeface="Arial" panose="020B0604020202020204" pitchFamily="34" charset="0"/>
                <a:sym typeface="Symbol" panose="05050102010706020507" pitchFamily="18" charset="2"/>
              </a:defRPr>
            </a:lvl1pPr>
          </a:lstStyle>
          <a:p>
            <a:r>
              <a:rPr lang="en-US" altLang="en-US"/>
              <a:t>Coffee Disease Detection using image classification</a:t>
            </a:r>
          </a:p>
        </p:txBody>
      </p:sp>
      <p:sp>
        <p:nvSpPr>
          <p:cNvPr id="451597" name="Line 13">
            <a:extLst>
              <a:ext uri="{FF2B5EF4-FFF2-40B4-BE49-F238E27FC236}">
                <a16:creationId xmlns:a16="http://schemas.microsoft.com/office/drawing/2014/main" id="{9B523D8E-520D-0175-87D3-44756A592F07}"/>
              </a:ext>
            </a:extLst>
          </p:cNvPr>
          <p:cNvSpPr>
            <a:spLocks noChangeShapeType="1"/>
          </p:cNvSpPr>
          <p:nvPr userDrawn="1"/>
        </p:nvSpPr>
        <p:spPr bwMode="auto">
          <a:xfrm rot="5400000" flipH="1">
            <a:off x="6096000" y="-5029200"/>
            <a:ext cx="0" cy="12192000"/>
          </a:xfrm>
          <a:prstGeom prst="line">
            <a:avLst/>
          </a:prstGeom>
          <a:noFill/>
          <a:ln w="63500">
            <a:solidFill>
              <a:srgbClr val="077C9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1800">
              <a:latin typeface="Bookshelf Symbol 2" charset="0"/>
              <a:ea typeface="ＭＳ Ｐゴシック" charset="0"/>
            </a:endParaRPr>
          </a:p>
        </p:txBody>
      </p:sp>
    </p:spTree>
    <p:extLst>
      <p:ext uri="{BB962C8B-B14F-4D97-AF65-F5344CB8AC3E}">
        <p14:creationId xmlns:p14="http://schemas.microsoft.com/office/powerpoint/2010/main" val="2675344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hf hdr="0" dt="0"/>
  <p:txStyles>
    <p:titleStyle>
      <a:lvl1pPr algn="l" rtl="0" eaLnBrk="0" fontAlgn="base" hangingPunct="0">
        <a:spcBef>
          <a:spcPct val="0"/>
        </a:spcBef>
        <a:spcAft>
          <a:spcPct val="0"/>
        </a:spcAft>
        <a:defRPr sz="3200">
          <a:solidFill>
            <a:srgbClr val="077C97"/>
          </a:solidFill>
          <a:latin typeface="+mj-lt"/>
          <a:ea typeface="+mj-ea"/>
          <a:cs typeface="+mj-cs"/>
        </a:defRPr>
      </a:lvl1pPr>
      <a:lvl2pPr algn="l" rtl="0" eaLnBrk="0" fontAlgn="base" hangingPunct="0">
        <a:spcBef>
          <a:spcPct val="0"/>
        </a:spcBef>
        <a:spcAft>
          <a:spcPct val="0"/>
        </a:spcAft>
        <a:defRPr sz="3200">
          <a:solidFill>
            <a:srgbClr val="077C97"/>
          </a:solidFill>
          <a:latin typeface="Arial Narrow" charset="0"/>
          <a:ea typeface="ＭＳ Ｐゴシック" charset="0"/>
        </a:defRPr>
      </a:lvl2pPr>
      <a:lvl3pPr algn="l" rtl="0" eaLnBrk="0" fontAlgn="base" hangingPunct="0">
        <a:spcBef>
          <a:spcPct val="0"/>
        </a:spcBef>
        <a:spcAft>
          <a:spcPct val="0"/>
        </a:spcAft>
        <a:defRPr sz="3200">
          <a:solidFill>
            <a:srgbClr val="077C97"/>
          </a:solidFill>
          <a:latin typeface="Arial Narrow" charset="0"/>
          <a:ea typeface="ＭＳ Ｐゴシック" charset="0"/>
        </a:defRPr>
      </a:lvl3pPr>
      <a:lvl4pPr algn="l" rtl="0" eaLnBrk="0" fontAlgn="base" hangingPunct="0">
        <a:spcBef>
          <a:spcPct val="0"/>
        </a:spcBef>
        <a:spcAft>
          <a:spcPct val="0"/>
        </a:spcAft>
        <a:defRPr sz="3200">
          <a:solidFill>
            <a:srgbClr val="077C97"/>
          </a:solidFill>
          <a:latin typeface="Arial Narrow" charset="0"/>
          <a:ea typeface="ＭＳ Ｐゴシック" charset="0"/>
        </a:defRPr>
      </a:lvl4pPr>
      <a:lvl5pPr algn="l" rtl="0" eaLnBrk="0" fontAlgn="base" hangingPunct="0">
        <a:spcBef>
          <a:spcPct val="0"/>
        </a:spcBef>
        <a:spcAft>
          <a:spcPct val="0"/>
        </a:spcAft>
        <a:defRPr sz="3200">
          <a:solidFill>
            <a:srgbClr val="077C97"/>
          </a:solidFill>
          <a:latin typeface="Arial Narrow" charset="0"/>
          <a:ea typeface="ＭＳ Ｐゴシック" charset="0"/>
        </a:defRPr>
      </a:lvl5pPr>
      <a:lvl6pPr marL="457200" algn="l" rtl="0" fontAlgn="base">
        <a:spcBef>
          <a:spcPct val="0"/>
        </a:spcBef>
        <a:spcAft>
          <a:spcPct val="0"/>
        </a:spcAft>
        <a:defRPr sz="3200">
          <a:solidFill>
            <a:srgbClr val="077C97"/>
          </a:solidFill>
          <a:latin typeface="Arial Narrow" charset="0"/>
          <a:ea typeface="ＭＳ Ｐゴシック" charset="0"/>
        </a:defRPr>
      </a:lvl6pPr>
      <a:lvl7pPr marL="914400" algn="l" rtl="0" fontAlgn="base">
        <a:spcBef>
          <a:spcPct val="0"/>
        </a:spcBef>
        <a:spcAft>
          <a:spcPct val="0"/>
        </a:spcAft>
        <a:defRPr sz="3200">
          <a:solidFill>
            <a:srgbClr val="077C97"/>
          </a:solidFill>
          <a:latin typeface="Arial Narrow" charset="0"/>
          <a:ea typeface="ＭＳ Ｐゴシック" charset="0"/>
        </a:defRPr>
      </a:lvl7pPr>
      <a:lvl8pPr marL="1371600" algn="l" rtl="0" fontAlgn="base">
        <a:spcBef>
          <a:spcPct val="0"/>
        </a:spcBef>
        <a:spcAft>
          <a:spcPct val="0"/>
        </a:spcAft>
        <a:defRPr sz="3200">
          <a:solidFill>
            <a:srgbClr val="077C97"/>
          </a:solidFill>
          <a:latin typeface="Arial Narrow" charset="0"/>
          <a:ea typeface="ＭＳ Ｐゴシック" charset="0"/>
        </a:defRPr>
      </a:lvl8pPr>
      <a:lvl9pPr marL="1828800" algn="l" rtl="0" fontAlgn="base">
        <a:spcBef>
          <a:spcPct val="0"/>
        </a:spcBef>
        <a:spcAft>
          <a:spcPct val="0"/>
        </a:spcAft>
        <a:defRPr sz="3200">
          <a:solidFill>
            <a:srgbClr val="077C97"/>
          </a:solidFill>
          <a:latin typeface="Arial Narrow" charset="0"/>
          <a:ea typeface="ＭＳ Ｐゴシック" charset="0"/>
        </a:defRPr>
      </a:lvl9pPr>
    </p:titleStyle>
    <p:bodyStyle>
      <a:lvl1pPr marL="342900" indent="-342900" algn="l" rtl="0" eaLnBrk="0" fontAlgn="base" hangingPunct="0">
        <a:spcBef>
          <a:spcPct val="20000"/>
        </a:spcBef>
        <a:spcAft>
          <a:spcPct val="0"/>
        </a:spcAft>
        <a:buClr>
          <a:srgbClr val="077C97"/>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077C97"/>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rgbClr val="077C97"/>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rgbClr val="077C97"/>
        </a:buClr>
        <a:buFont typeface="Wingdings" charset="0"/>
        <a:buChar char="§"/>
        <a:defRPr sz="2000">
          <a:solidFill>
            <a:schemeClr val="tx1"/>
          </a:solidFill>
          <a:latin typeface="+mn-lt"/>
          <a:ea typeface="+mn-ea"/>
        </a:defRPr>
      </a:lvl6pPr>
      <a:lvl7pPr marL="2971800" indent="-228600" algn="l" rtl="0" fontAlgn="base">
        <a:spcBef>
          <a:spcPct val="20000"/>
        </a:spcBef>
        <a:spcAft>
          <a:spcPct val="0"/>
        </a:spcAft>
        <a:buClr>
          <a:srgbClr val="077C97"/>
        </a:buClr>
        <a:buFont typeface="Wingdings" charset="0"/>
        <a:buChar char="§"/>
        <a:defRPr sz="2000">
          <a:solidFill>
            <a:schemeClr val="tx1"/>
          </a:solidFill>
          <a:latin typeface="+mn-lt"/>
          <a:ea typeface="+mn-ea"/>
        </a:defRPr>
      </a:lvl7pPr>
      <a:lvl8pPr marL="3429000" indent="-228600" algn="l" rtl="0" fontAlgn="base">
        <a:spcBef>
          <a:spcPct val="20000"/>
        </a:spcBef>
        <a:spcAft>
          <a:spcPct val="0"/>
        </a:spcAft>
        <a:buClr>
          <a:srgbClr val="077C97"/>
        </a:buClr>
        <a:buFont typeface="Wingdings" charset="0"/>
        <a:buChar char="§"/>
        <a:defRPr sz="2000">
          <a:solidFill>
            <a:schemeClr val="tx1"/>
          </a:solidFill>
          <a:latin typeface="+mn-lt"/>
          <a:ea typeface="+mn-ea"/>
        </a:defRPr>
      </a:lvl8pPr>
      <a:lvl9pPr marL="3886200" indent="-228600" algn="l" rtl="0" fontAlgn="base">
        <a:spcBef>
          <a:spcPct val="20000"/>
        </a:spcBef>
        <a:spcAft>
          <a:spcPct val="0"/>
        </a:spcAft>
        <a:buClr>
          <a:srgbClr val="077C97"/>
        </a:buClr>
        <a:buFont typeface="Wingdings" charset="0"/>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15.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9A9C-F1EA-8298-B08A-436862B03243}"/>
              </a:ext>
            </a:extLst>
          </p:cNvPr>
          <p:cNvSpPr>
            <a:spLocks noGrp="1"/>
          </p:cNvSpPr>
          <p:nvPr>
            <p:ph type="ctrTitle"/>
          </p:nvPr>
        </p:nvSpPr>
        <p:spPr>
          <a:xfrm>
            <a:off x="0" y="0"/>
            <a:ext cx="12192000" cy="6858000"/>
          </a:xfrm>
        </p:spPr>
        <p:txBody>
          <a:bodyPr>
            <a:normAutofit fontScale="90000"/>
          </a:bodyPr>
          <a:lstStyle/>
          <a:p>
            <a:pPr marL="272415" marR="274320" algn="ctr">
              <a:lnSpc>
                <a:spcPct val="150000"/>
              </a:lnSpc>
              <a:spcBef>
                <a:spcPts val="1715"/>
              </a:spcBef>
              <a:spcAft>
                <a:spcPts val="800"/>
              </a:spcAft>
            </a:pP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COLLEGE</a:t>
            </a:r>
            <a:r>
              <a:rPr lang="en-US" sz="1800" b="1" spc="-45"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OF</a:t>
            </a:r>
            <a:r>
              <a:rPr lang="en-US" sz="1800" b="1" spc="-55"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COMPUTING</a:t>
            </a:r>
            <a:r>
              <a:rPr lang="en-US" sz="1800" b="1" spc="-55"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AND</a:t>
            </a:r>
            <a:r>
              <a:rPr lang="en-US" sz="1800" b="1" spc="-60"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INFORMATION </a:t>
            </a:r>
            <a:r>
              <a:rPr lang="en-US" sz="1800" b="1" spc="-10" dirty="0">
                <a:effectLst/>
                <a:latin typeface="Amasis MT Pro" panose="02040504050005020304" pitchFamily="18" charset="0"/>
                <a:ea typeface="Times New Roman" panose="02020603050405020304" pitchFamily="18" charset="0"/>
                <a:cs typeface="Times New Roman" panose="02020603050405020304" pitchFamily="18" charset="0"/>
              </a:rPr>
              <a:t>SCIENCES (</a:t>
            </a:r>
            <a:r>
              <a:rPr lang="en-US" sz="1800" b="1" spc="-10" dirty="0" err="1">
                <a:effectLst/>
                <a:latin typeface="Amasis MT Pro" panose="02040504050005020304" pitchFamily="18" charset="0"/>
                <a:ea typeface="Times New Roman" panose="02020603050405020304" pitchFamily="18" charset="0"/>
                <a:cs typeface="Times New Roman" panose="02020603050405020304" pitchFamily="18" charset="0"/>
              </a:rPr>
              <a:t>CoCIS</a:t>
            </a:r>
            <a:r>
              <a:rPr lang="en-US" sz="1800" b="1" spc="-10" dirty="0">
                <a:effectLst/>
                <a:latin typeface="Amasis MT Pro" panose="02040504050005020304" pitchFamily="18"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DEPARTMENT</a:t>
            </a:r>
            <a:r>
              <a:rPr lang="en-US" sz="1800" b="1" spc="-55"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OF</a:t>
            </a:r>
            <a:r>
              <a:rPr lang="en-US" sz="1800" b="1" spc="-65" dirty="0">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b="1" spc="-10" dirty="0">
                <a:effectLst/>
                <a:latin typeface="Amasis MT Pro" panose="02040504050005020304" pitchFamily="18" charset="0"/>
                <a:ea typeface="Times New Roman" panose="02020603050405020304" pitchFamily="18" charset="0"/>
                <a:cs typeface="Times New Roman" panose="02020603050405020304" pitchFamily="18" charset="0"/>
              </a:rPr>
              <a:t>COMPUTER SCIENCE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Course Unit: MCS 7103 – Machine Learning.</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SEMISTER PROJECT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Topic: </a:t>
            </a:r>
            <a:r>
              <a:rPr lang="en-US" sz="1800" b="1" dirty="0">
                <a:solidFill>
                  <a:srgbClr val="1F4E79"/>
                </a:solidFill>
                <a:effectLst/>
                <a:latin typeface="Amasis MT Pro" panose="02040504050005020304" pitchFamily="18" charset="0"/>
                <a:ea typeface="Times New Roman" panose="02020603050405020304" pitchFamily="18" charset="0"/>
                <a:cs typeface="Times New Roman" panose="02020603050405020304" pitchFamily="18" charset="0"/>
              </a:rPr>
              <a:t>Coffee Disease Detection using Image Classification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Amasis MT Pro" panose="02040504050005020304" pitchFamily="18" charset="0"/>
                <a:ea typeface="Times New Roman" panose="02020603050405020304" pitchFamily="18" charset="0"/>
                <a:cs typeface="Times New Roman" panose="02020603050405020304" pitchFamily="18" charset="0"/>
              </a:rPr>
              <a:t>Presented by: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sz="1400" dirty="0"/>
          </a:p>
        </p:txBody>
      </p:sp>
      <p:sp>
        <p:nvSpPr>
          <p:cNvPr id="11" name="Rectangle 8">
            <a:extLst>
              <a:ext uri="{FF2B5EF4-FFF2-40B4-BE49-F238E27FC236}">
                <a16:creationId xmlns:a16="http://schemas.microsoft.com/office/drawing/2014/main" id="{2BCA181A-22DE-1A10-A9E8-24378E6F0E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55" name="Image 1">
            <a:extLst>
              <a:ext uri="{FF2B5EF4-FFF2-40B4-BE49-F238E27FC236}">
                <a16:creationId xmlns:a16="http://schemas.microsoft.com/office/drawing/2014/main" id="{84832310-0816-A898-9913-69A4CDB67DB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713" y="338613"/>
            <a:ext cx="2457450" cy="162591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9">
            <a:extLst>
              <a:ext uri="{FF2B5EF4-FFF2-40B4-BE49-F238E27FC236}">
                <a16:creationId xmlns:a16="http://schemas.microsoft.com/office/drawing/2014/main" id="{B542D1DB-6A06-F8D3-1F18-2147FD7DDDE7}"/>
              </a:ext>
            </a:extLst>
          </p:cNvPr>
          <p:cNvSpPr>
            <a:spLocks noChangeArrowheads="1"/>
          </p:cNvSpPr>
          <p:nvPr/>
        </p:nvSpPr>
        <p:spPr bwMode="auto">
          <a:xfrm>
            <a:off x="1930613" y="887313"/>
            <a:ext cx="809741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7938" algn="l"/>
              </a:tabLst>
              <a:defRPr>
                <a:solidFill>
                  <a:schemeClr val="tx1"/>
                </a:solidFill>
                <a:latin typeface="Arial" panose="020B0604020202020204" pitchFamily="34" charset="0"/>
              </a:defRPr>
            </a:lvl1pPr>
            <a:lvl2pPr eaLnBrk="0" fontAlgn="base" hangingPunct="0">
              <a:spcBef>
                <a:spcPct val="0"/>
              </a:spcBef>
              <a:spcAft>
                <a:spcPct val="0"/>
              </a:spcAft>
              <a:tabLst>
                <a:tab pos="3817938" algn="l"/>
              </a:tabLst>
              <a:defRPr>
                <a:solidFill>
                  <a:schemeClr val="tx1"/>
                </a:solidFill>
                <a:latin typeface="Arial" panose="020B0604020202020204" pitchFamily="34" charset="0"/>
              </a:defRPr>
            </a:lvl2pPr>
            <a:lvl3pPr eaLnBrk="0" fontAlgn="base" hangingPunct="0">
              <a:spcBef>
                <a:spcPct val="0"/>
              </a:spcBef>
              <a:spcAft>
                <a:spcPct val="0"/>
              </a:spcAft>
              <a:tabLst>
                <a:tab pos="3817938" algn="l"/>
              </a:tabLst>
              <a:defRPr>
                <a:solidFill>
                  <a:schemeClr val="tx1"/>
                </a:solidFill>
                <a:latin typeface="Arial" panose="020B0604020202020204" pitchFamily="34" charset="0"/>
              </a:defRPr>
            </a:lvl3pPr>
            <a:lvl4pPr eaLnBrk="0" fontAlgn="base" hangingPunct="0">
              <a:spcBef>
                <a:spcPct val="0"/>
              </a:spcBef>
              <a:spcAft>
                <a:spcPct val="0"/>
              </a:spcAft>
              <a:tabLst>
                <a:tab pos="3817938" algn="l"/>
              </a:tabLst>
              <a:defRPr>
                <a:solidFill>
                  <a:schemeClr val="tx1"/>
                </a:solidFill>
                <a:latin typeface="Arial" panose="020B0604020202020204" pitchFamily="34" charset="0"/>
              </a:defRPr>
            </a:lvl4pPr>
            <a:lvl5pPr eaLnBrk="0" fontAlgn="base" hangingPunct="0">
              <a:spcBef>
                <a:spcPct val="0"/>
              </a:spcBef>
              <a:spcAft>
                <a:spcPct val="0"/>
              </a:spcAft>
              <a:tabLst>
                <a:tab pos="3817938" algn="l"/>
              </a:tabLst>
              <a:defRPr>
                <a:solidFill>
                  <a:schemeClr val="tx1"/>
                </a:solidFill>
                <a:latin typeface="Arial" panose="020B0604020202020204" pitchFamily="34" charset="0"/>
              </a:defRPr>
            </a:lvl5pPr>
            <a:lvl6pPr eaLnBrk="0" fontAlgn="base" hangingPunct="0">
              <a:spcBef>
                <a:spcPct val="0"/>
              </a:spcBef>
              <a:spcAft>
                <a:spcPct val="0"/>
              </a:spcAft>
              <a:tabLst>
                <a:tab pos="3817938" algn="l"/>
              </a:tabLst>
              <a:defRPr>
                <a:solidFill>
                  <a:schemeClr val="tx1"/>
                </a:solidFill>
                <a:latin typeface="Arial" panose="020B0604020202020204" pitchFamily="34" charset="0"/>
              </a:defRPr>
            </a:lvl6pPr>
            <a:lvl7pPr eaLnBrk="0" fontAlgn="base" hangingPunct="0">
              <a:spcBef>
                <a:spcPct val="0"/>
              </a:spcBef>
              <a:spcAft>
                <a:spcPct val="0"/>
              </a:spcAft>
              <a:tabLst>
                <a:tab pos="3817938" algn="l"/>
              </a:tabLst>
              <a:defRPr>
                <a:solidFill>
                  <a:schemeClr val="tx1"/>
                </a:solidFill>
                <a:latin typeface="Arial" panose="020B0604020202020204" pitchFamily="34" charset="0"/>
              </a:defRPr>
            </a:lvl7pPr>
            <a:lvl8pPr eaLnBrk="0" fontAlgn="base" hangingPunct="0">
              <a:spcBef>
                <a:spcPct val="0"/>
              </a:spcBef>
              <a:spcAft>
                <a:spcPct val="0"/>
              </a:spcAft>
              <a:tabLst>
                <a:tab pos="3817938" algn="l"/>
              </a:tabLst>
              <a:defRPr>
                <a:solidFill>
                  <a:schemeClr val="tx1"/>
                </a:solidFill>
                <a:latin typeface="Arial" panose="020B0604020202020204" pitchFamily="34" charset="0"/>
              </a:defRPr>
            </a:lvl8pPr>
            <a:lvl9pPr eaLnBrk="0" fontAlgn="base" hangingPunct="0">
              <a:spcBef>
                <a:spcPct val="0"/>
              </a:spcBef>
              <a:spcAft>
                <a:spcPct val="0"/>
              </a:spcAft>
              <a:tabLst>
                <a:tab pos="3817938"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7938" algn="l"/>
              </a:tabLst>
            </a:pPr>
            <a:r>
              <a:rPr kumimoji="0" lang="en-US" altLang="en-US" sz="3200" b="1" i="0" u="none" strike="noStrike" cap="none" normalizeH="0" baseline="0" dirty="0">
                <a:ln>
                  <a:noFill/>
                </a:ln>
                <a:solidFill>
                  <a:schemeClr val="tx1"/>
                </a:solidFill>
                <a:effectLst/>
                <a:latin typeface="Amasis MT Pro" panose="02040504050005020304" pitchFamily="18" charset="0"/>
                <a:ea typeface="Times New Roman" panose="02020603050405020304" pitchFamily="18" charset="0"/>
                <a:cs typeface="Times New Roman" panose="02020603050405020304" pitchFamily="18" charset="0"/>
              </a:rPr>
              <a:t>MAKERERE	             UNIVERSITY</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817938" algn="l"/>
              </a:tabLst>
            </a:pPr>
            <a:endParaRPr kumimoji="0" lang="en-US" altLang="en-US" sz="3200" b="0" i="0" u="none" strike="noStrike" cap="none" normalizeH="0" baseline="0" dirty="0">
              <a:ln>
                <a:noFill/>
              </a:ln>
              <a:solidFill>
                <a:schemeClr val="tx1"/>
              </a:solidFill>
              <a:effectLst/>
            </a:endParaRPr>
          </a:p>
        </p:txBody>
      </p:sp>
      <p:graphicFrame>
        <p:nvGraphicFramePr>
          <p:cNvPr id="14" name="Table 13">
            <a:extLst>
              <a:ext uri="{FF2B5EF4-FFF2-40B4-BE49-F238E27FC236}">
                <a16:creationId xmlns:a16="http://schemas.microsoft.com/office/drawing/2014/main" id="{CABB46C7-B12F-BC60-7E46-1CA6FE798681}"/>
              </a:ext>
            </a:extLst>
          </p:cNvPr>
          <p:cNvGraphicFramePr>
            <a:graphicFrameLocks noGrp="1"/>
          </p:cNvGraphicFramePr>
          <p:nvPr>
            <p:extLst>
              <p:ext uri="{D42A27DB-BD31-4B8C-83A1-F6EECF244321}">
                <p14:modId xmlns:p14="http://schemas.microsoft.com/office/powerpoint/2010/main" val="2772240319"/>
              </p:ext>
            </p:extLst>
          </p:nvPr>
        </p:nvGraphicFramePr>
        <p:xfrm>
          <a:off x="2971800" y="5135564"/>
          <a:ext cx="6786797" cy="835123"/>
        </p:xfrm>
        <a:graphic>
          <a:graphicData uri="http://schemas.openxmlformats.org/drawingml/2006/table">
            <a:tbl>
              <a:tblPr firstRow="1" firstCol="1" lastRow="1" lastCol="1" bandRow="1" bandCol="1"/>
              <a:tblGrid>
                <a:gridCol w="2380233">
                  <a:extLst>
                    <a:ext uri="{9D8B030D-6E8A-4147-A177-3AD203B41FA5}">
                      <a16:colId xmlns:a16="http://schemas.microsoft.com/office/drawing/2014/main" val="1421755751"/>
                    </a:ext>
                  </a:extLst>
                </a:gridCol>
                <a:gridCol w="1731287">
                  <a:extLst>
                    <a:ext uri="{9D8B030D-6E8A-4147-A177-3AD203B41FA5}">
                      <a16:colId xmlns:a16="http://schemas.microsoft.com/office/drawing/2014/main" val="2656726102"/>
                    </a:ext>
                  </a:extLst>
                </a:gridCol>
                <a:gridCol w="2675277">
                  <a:extLst>
                    <a:ext uri="{9D8B030D-6E8A-4147-A177-3AD203B41FA5}">
                      <a16:colId xmlns:a16="http://schemas.microsoft.com/office/drawing/2014/main" val="2530831444"/>
                    </a:ext>
                  </a:extLst>
                </a:gridCol>
              </a:tblGrid>
              <a:tr h="415908">
                <a:tc>
                  <a:txBody>
                    <a:bodyPr/>
                    <a:lstStyle/>
                    <a:p>
                      <a:pPr marL="67945" algn="ctr">
                        <a:lnSpc>
                          <a:spcPct val="107000"/>
                        </a:lnSpc>
                        <a:spcAft>
                          <a:spcPts val="800"/>
                        </a:spcAft>
                      </a:pPr>
                      <a:r>
                        <a:rPr lang="en-US" sz="1400" b="1" spc="-2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STUDENT NAME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0070C0"/>
                    </a:solidFill>
                  </a:tcPr>
                </a:tc>
                <a:tc>
                  <a:txBody>
                    <a:bodyPr/>
                    <a:lstStyle/>
                    <a:p>
                      <a:pPr marL="67945" algn="ctr">
                        <a:lnSpc>
                          <a:spcPct val="107000"/>
                        </a:lnSpc>
                        <a:spcAft>
                          <a:spcPts val="800"/>
                        </a:spcAft>
                      </a:pPr>
                      <a:r>
                        <a:rPr lang="en-US" sz="14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STUDENT NUMBER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0070C0"/>
                    </a:solidFill>
                  </a:tcPr>
                </a:tc>
                <a:tc>
                  <a:txBody>
                    <a:bodyPr/>
                    <a:lstStyle/>
                    <a:p>
                      <a:pPr marL="67945" algn="ctr">
                        <a:lnSpc>
                          <a:spcPct val="107000"/>
                        </a:lnSpc>
                        <a:spcAft>
                          <a:spcPts val="800"/>
                        </a:spcAft>
                      </a:pPr>
                      <a:r>
                        <a:rPr lang="en-US" sz="14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REGISTRATION</a:t>
                      </a:r>
                      <a:r>
                        <a:rPr lang="en-US" sz="1400" b="1" spc="-15"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 </a:t>
                      </a:r>
                      <a:r>
                        <a:rPr lang="en-US" sz="1400" b="1" spc="-1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NUMBER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0070C0"/>
                    </a:solidFill>
                  </a:tcPr>
                </a:tc>
                <a:extLst>
                  <a:ext uri="{0D108BD9-81ED-4DB2-BD59-A6C34878D82A}">
                    <a16:rowId xmlns:a16="http://schemas.microsoft.com/office/drawing/2014/main" val="686802115"/>
                  </a:ext>
                </a:extLst>
              </a:tr>
              <a:tr h="419215">
                <a:tc>
                  <a:txBody>
                    <a:bodyPr/>
                    <a:lstStyle/>
                    <a:p>
                      <a:pPr marL="67945" algn="ctr">
                        <a:lnSpc>
                          <a:spcPct val="107000"/>
                        </a:lnSpc>
                        <a:spcAft>
                          <a:spcPts val="800"/>
                        </a:spcAft>
                      </a:pPr>
                      <a:r>
                        <a:rPr lang="en-US" sz="1400" spc="-1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GRACE. RONALD. SEMWEZI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67945" algn="ctr">
                        <a:lnSpc>
                          <a:spcPct val="107000"/>
                        </a:lnSpc>
                        <a:spcAft>
                          <a:spcPts val="800"/>
                        </a:spcAft>
                      </a:pPr>
                      <a:r>
                        <a:rPr lang="en-US" sz="1400" spc="-10" dirty="0">
                          <a:effectLst/>
                          <a:latin typeface="Calibri" panose="020F0502020204030204" pitchFamily="34" charset="0"/>
                          <a:ea typeface="Times New Roman" panose="02020603050405020304" pitchFamily="18" charset="0"/>
                          <a:cs typeface="Calibri" panose="020F0502020204030204" pitchFamily="34" charset="0"/>
                        </a:rPr>
                        <a:t>2500726370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tcPr>
                </a:tc>
                <a:tc>
                  <a:txBody>
                    <a:bodyPr/>
                    <a:lstStyle/>
                    <a:p>
                      <a:pPr marL="67945" algn="ctr">
                        <a:lnSpc>
                          <a:spcPct val="107000"/>
                        </a:lnSpc>
                        <a:spcAft>
                          <a:spcPts val="800"/>
                        </a:spcAft>
                      </a:pPr>
                      <a:r>
                        <a:rPr lang="en-US" sz="1400" spc="-1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2025/HD05/26370U</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3389267418"/>
                  </a:ext>
                </a:extLst>
              </a:tr>
            </a:tbl>
          </a:graphicData>
        </a:graphic>
      </p:graphicFrame>
      <p:sp>
        <p:nvSpPr>
          <p:cNvPr id="3" name="Footer Placeholder 2">
            <a:extLst>
              <a:ext uri="{FF2B5EF4-FFF2-40B4-BE49-F238E27FC236}">
                <a16:creationId xmlns:a16="http://schemas.microsoft.com/office/drawing/2014/main" id="{DEBDD349-E66C-EEA2-4FC1-A88CA93B1DC2}"/>
              </a:ext>
            </a:extLst>
          </p:cNvPr>
          <p:cNvSpPr>
            <a:spLocks noGrp="1"/>
          </p:cNvSpPr>
          <p:nvPr>
            <p:ph type="ftr" sz="quarter" idx="11"/>
          </p:nvPr>
        </p:nvSpPr>
        <p:spPr/>
        <p:txBody>
          <a:bodyPr/>
          <a:lstStyle/>
          <a:p>
            <a:r>
              <a:rPr lang="en-US"/>
              <a:t>Coffee Disease Detection using image classification</a:t>
            </a:r>
          </a:p>
        </p:txBody>
      </p:sp>
      <p:sp>
        <p:nvSpPr>
          <p:cNvPr id="4" name="Slide Number Placeholder 3">
            <a:extLst>
              <a:ext uri="{FF2B5EF4-FFF2-40B4-BE49-F238E27FC236}">
                <a16:creationId xmlns:a16="http://schemas.microsoft.com/office/drawing/2014/main" id="{CECAB8E2-3602-00C4-31C9-125EE53D6EAC}"/>
              </a:ext>
            </a:extLst>
          </p:cNvPr>
          <p:cNvSpPr>
            <a:spLocks noGrp="1"/>
          </p:cNvSpPr>
          <p:nvPr>
            <p:ph type="sldNum" sz="quarter" idx="12"/>
          </p:nvPr>
        </p:nvSpPr>
        <p:spPr/>
        <p:txBody>
          <a:bodyPr/>
          <a:lstStyle/>
          <a:p>
            <a:fld id="{28C7BBA2-0500-46CC-B94C-18B5A6FB54A8}" type="slidenum">
              <a:rPr lang="en-US" smtClean="0"/>
              <a:t>1</a:t>
            </a:fld>
            <a:endParaRPr lang="en-US"/>
          </a:p>
        </p:txBody>
      </p:sp>
    </p:spTree>
    <p:extLst>
      <p:ext uri="{BB962C8B-B14F-4D97-AF65-F5344CB8AC3E}">
        <p14:creationId xmlns:p14="http://schemas.microsoft.com/office/powerpoint/2010/main" val="1363985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2459-C58B-3607-04AC-581A7E249A03}"/>
              </a:ext>
            </a:extLst>
          </p:cNvPr>
          <p:cNvSpPr>
            <a:spLocks noGrp="1"/>
          </p:cNvSpPr>
          <p:nvPr>
            <p:ph type="title"/>
          </p:nvPr>
        </p:nvSpPr>
        <p:spPr/>
        <p:txBody>
          <a:bodyPr/>
          <a:lstStyle/>
          <a:p>
            <a:r>
              <a:rPr lang="en-US" dirty="0"/>
              <a:t>Coffee Disease Detection using Image Classification </a:t>
            </a:r>
          </a:p>
        </p:txBody>
      </p:sp>
      <p:pic>
        <p:nvPicPr>
          <p:cNvPr id="8" name="Content Placeholder 7">
            <a:extLst>
              <a:ext uri="{FF2B5EF4-FFF2-40B4-BE49-F238E27FC236}">
                <a16:creationId xmlns:a16="http://schemas.microsoft.com/office/drawing/2014/main" id="{816A0CD0-122D-FDCF-7397-63FC7C8243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69428" y="1559505"/>
            <a:ext cx="5035029" cy="4579908"/>
          </a:xfrm>
        </p:spPr>
      </p:pic>
      <p:pic>
        <p:nvPicPr>
          <p:cNvPr id="10" name="Content Placeholder 9">
            <a:extLst>
              <a:ext uri="{FF2B5EF4-FFF2-40B4-BE49-F238E27FC236}">
                <a16:creationId xmlns:a16="http://schemas.microsoft.com/office/drawing/2014/main" id="{5666728A-4245-197E-9F57-514066BF2D0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01174" y="1591298"/>
            <a:ext cx="3882452" cy="2258161"/>
          </a:xfrm>
        </p:spPr>
      </p:pic>
      <p:sp>
        <p:nvSpPr>
          <p:cNvPr id="5" name="Slide Number Placeholder 4">
            <a:extLst>
              <a:ext uri="{FF2B5EF4-FFF2-40B4-BE49-F238E27FC236}">
                <a16:creationId xmlns:a16="http://schemas.microsoft.com/office/drawing/2014/main" id="{44CFBA01-6DB1-D174-420F-972F9D007C70}"/>
              </a:ext>
            </a:extLst>
          </p:cNvPr>
          <p:cNvSpPr>
            <a:spLocks noGrp="1"/>
          </p:cNvSpPr>
          <p:nvPr>
            <p:ph type="sldNum" sz="quarter" idx="10"/>
          </p:nvPr>
        </p:nvSpPr>
        <p:spPr/>
        <p:txBody>
          <a:bodyPr/>
          <a:lstStyle/>
          <a:p>
            <a:r>
              <a:rPr lang="en-US" altLang="en-US" dirty="0"/>
              <a:t>Slide 5.2- </a:t>
            </a:r>
            <a:fld id="{00D3ACD1-34BE-4891-90AB-298005062082}" type="slidenum">
              <a:rPr lang="en-US" altLang="en-US" smtClean="0"/>
              <a:pPr/>
              <a:t>2</a:t>
            </a:fld>
            <a:endParaRPr lang="en-CA" altLang="en-US" dirty="0"/>
          </a:p>
        </p:txBody>
      </p:sp>
      <p:pic>
        <p:nvPicPr>
          <p:cNvPr id="12" name="Picture 11">
            <a:extLst>
              <a:ext uri="{FF2B5EF4-FFF2-40B4-BE49-F238E27FC236}">
                <a16:creationId xmlns:a16="http://schemas.microsoft.com/office/drawing/2014/main" id="{5DED4547-4610-4F4C-DF5E-EFDF34B662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4336" y="4189358"/>
            <a:ext cx="2696128" cy="1777881"/>
          </a:xfrm>
          <a:prstGeom prst="rect">
            <a:avLst/>
          </a:prstGeom>
        </p:spPr>
      </p:pic>
      <p:sp>
        <p:nvSpPr>
          <p:cNvPr id="13" name="Footer Placeholder 12">
            <a:extLst>
              <a:ext uri="{FF2B5EF4-FFF2-40B4-BE49-F238E27FC236}">
                <a16:creationId xmlns:a16="http://schemas.microsoft.com/office/drawing/2014/main" id="{77F5E746-DB29-EA4B-75C1-2B5A7B5C24FA}"/>
              </a:ext>
            </a:extLst>
          </p:cNvPr>
          <p:cNvSpPr>
            <a:spLocks noGrp="1"/>
          </p:cNvSpPr>
          <p:nvPr>
            <p:ph type="ftr" sz="quarter" idx="11"/>
          </p:nvPr>
        </p:nvSpPr>
        <p:spPr/>
        <p:txBody>
          <a:bodyPr/>
          <a:lstStyle/>
          <a:p>
            <a:r>
              <a:rPr lang="en-US" altLang="en-US"/>
              <a:t>Coffee Disease Detection using image classification</a:t>
            </a:r>
          </a:p>
        </p:txBody>
      </p:sp>
    </p:spTree>
    <p:extLst>
      <p:ext uri="{BB962C8B-B14F-4D97-AF65-F5344CB8AC3E}">
        <p14:creationId xmlns:p14="http://schemas.microsoft.com/office/powerpoint/2010/main" val="167112769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3A247-C36B-B2CA-648F-4847EF837B29}"/>
              </a:ext>
            </a:extLst>
          </p:cNvPr>
          <p:cNvSpPr>
            <a:spLocks noGrp="1"/>
          </p:cNvSpPr>
          <p:nvPr>
            <p:ph type="title"/>
          </p:nvPr>
        </p:nvSpPr>
        <p:spPr>
          <a:xfrm>
            <a:off x="459699" y="134912"/>
            <a:ext cx="10972800" cy="737016"/>
          </a:xfrm>
        </p:spPr>
        <p:txBody>
          <a:bodyPr/>
          <a:lstStyle/>
          <a:p>
            <a:r>
              <a:rPr lang="en-US" sz="3600" b="1" dirty="0">
                <a:latin typeface="+mn-lt"/>
                <a:ea typeface="Calibri Light" panose="020F0302020204030204" pitchFamily="34" charset="0"/>
                <a:cs typeface="Calibri Light" panose="020F0302020204030204" pitchFamily="34" charset="0"/>
              </a:rPr>
              <a:t>Introduction</a:t>
            </a:r>
          </a:p>
        </p:txBody>
      </p:sp>
      <p:sp>
        <p:nvSpPr>
          <p:cNvPr id="3" name="Content Placeholder 2">
            <a:extLst>
              <a:ext uri="{FF2B5EF4-FFF2-40B4-BE49-F238E27FC236}">
                <a16:creationId xmlns:a16="http://schemas.microsoft.com/office/drawing/2014/main" id="{3A1FB097-7ABD-056B-AE23-8A1570363027}"/>
              </a:ext>
            </a:extLst>
          </p:cNvPr>
          <p:cNvSpPr>
            <a:spLocks noGrp="1"/>
          </p:cNvSpPr>
          <p:nvPr>
            <p:ph idx="1"/>
          </p:nvPr>
        </p:nvSpPr>
        <p:spPr/>
        <p:txBody>
          <a:bodyPr/>
          <a:lstStyle/>
          <a:p>
            <a:pPr algn="just">
              <a:spcAft>
                <a:spcPts val="600"/>
              </a:spcAft>
            </a:pPr>
            <a:r>
              <a:rPr lang="en-US" sz="1800" dirty="0">
                <a:effectLst/>
                <a:latin typeface="Times New Roman" panose="02020603050405020304" pitchFamily="18" charset="0"/>
                <a:ea typeface="Times New Roman" panose="02020603050405020304" pitchFamily="18" charset="0"/>
              </a:rPr>
              <a:t>Coffee is not </a:t>
            </a:r>
            <a:r>
              <a:rPr lang="en-US" sz="1800" dirty="0">
                <a:effectLst/>
                <a:ea typeface="Times New Roman" panose="02020603050405020304" pitchFamily="18" charset="0"/>
              </a:rPr>
              <a:t>only a globally cherished beverage but also a vital agricultural commodity, supporting the livelihoods of millions of farmers and contributing significantly to the economies of producing countries. However, coffee crops are persistently threatened by a range of diseases, notably leaf rust (</a:t>
            </a:r>
            <a:r>
              <a:rPr lang="en-US" sz="1800" dirty="0" err="1">
                <a:effectLst/>
                <a:ea typeface="Times New Roman" panose="02020603050405020304" pitchFamily="18" charset="0"/>
              </a:rPr>
              <a:t>Hemileia</a:t>
            </a:r>
            <a:r>
              <a:rPr lang="en-US" sz="1800" dirty="0">
                <a:effectLst/>
                <a:ea typeface="Times New Roman" panose="02020603050405020304" pitchFamily="18" charset="0"/>
              </a:rPr>
              <a:t> </a:t>
            </a:r>
            <a:r>
              <a:rPr lang="en-US" sz="1800" dirty="0" err="1">
                <a:effectLst/>
                <a:ea typeface="Times New Roman" panose="02020603050405020304" pitchFamily="18" charset="0"/>
              </a:rPr>
              <a:t>vastatrix</a:t>
            </a:r>
            <a:r>
              <a:rPr lang="en-US" sz="1800" dirty="0">
                <a:effectLst/>
                <a:ea typeface="Times New Roman" panose="02020603050405020304" pitchFamily="18" charset="0"/>
              </a:rPr>
              <a:t>) and </a:t>
            </a:r>
            <a:r>
              <a:rPr lang="en-US" sz="1800" dirty="0" err="1">
                <a:effectLst/>
                <a:ea typeface="Times New Roman" panose="02020603050405020304" pitchFamily="18" charset="0"/>
              </a:rPr>
              <a:t>Phoma</a:t>
            </a:r>
            <a:r>
              <a:rPr lang="en-US" sz="1800" dirty="0">
                <a:effectLst/>
                <a:ea typeface="Times New Roman" panose="02020603050405020304" pitchFamily="18" charset="0"/>
              </a:rPr>
              <a:t>, which can cause devastating yield losses if not detected and managed promptly.</a:t>
            </a:r>
          </a:p>
          <a:p>
            <a:pPr algn="just">
              <a:spcAft>
                <a:spcPts val="600"/>
              </a:spcAft>
            </a:pPr>
            <a:r>
              <a:rPr lang="en-US" sz="1800" dirty="0">
                <a:effectLst/>
                <a:ea typeface="Times New Roman" panose="02020603050405020304" pitchFamily="18" charset="0"/>
              </a:rPr>
              <a:t>Traditional disease identification methods rely on manual inspection, which is labor-intensive, subjective, and often infeasible at scale. </a:t>
            </a:r>
            <a:endParaRPr lang="en-US" sz="1800" dirty="0">
              <a:ea typeface="Times New Roman" panose="02020603050405020304" pitchFamily="18" charset="0"/>
            </a:endParaRPr>
          </a:p>
          <a:p>
            <a:pPr algn="just">
              <a:spcAft>
                <a:spcPts val="600"/>
              </a:spcAft>
            </a:pPr>
            <a:r>
              <a:rPr lang="en-US" sz="1800" dirty="0">
                <a:effectLst/>
                <a:ea typeface="Times New Roman" panose="02020603050405020304" pitchFamily="18" charset="0"/>
                <a:cs typeface="Times New Roman" panose="02020603050405020304" pitchFamily="18" charset="0"/>
              </a:rPr>
              <a:t>In recent years, deep learning—particularly </a:t>
            </a:r>
            <a:r>
              <a:rPr lang="en-US" sz="1800" b="1" dirty="0">
                <a:effectLst/>
                <a:ea typeface="Times New Roman" panose="02020603050405020304" pitchFamily="18" charset="0"/>
                <a:cs typeface="Times New Roman" panose="02020603050405020304" pitchFamily="18" charset="0"/>
              </a:rPr>
              <a:t>Convolutional Neural Networks </a:t>
            </a:r>
            <a:r>
              <a:rPr lang="en-US" sz="1800" dirty="0">
                <a:effectLst/>
                <a:ea typeface="Times New Roman" panose="02020603050405020304" pitchFamily="18" charset="0"/>
                <a:cs typeface="Times New Roman" panose="02020603050405020304" pitchFamily="18" charset="0"/>
              </a:rPr>
              <a:t>(CNNs)—has emerged as a transformative technology for automating plant disease detection from images, offering high accuracy and scalability.</a:t>
            </a:r>
            <a:endParaRPr lang="en-US" sz="1800" dirty="0">
              <a:effectLst/>
              <a:ea typeface="Calibri" panose="020F0502020204030204" pitchFamily="34" charset="0"/>
              <a:cs typeface="Times New Roman" panose="02020603050405020304" pitchFamily="18" charset="0"/>
            </a:endParaRPr>
          </a:p>
          <a:p>
            <a:pPr algn="just">
              <a:spcAft>
                <a:spcPts val="600"/>
              </a:spcAft>
            </a:pPr>
            <a:r>
              <a:rPr lang="en-US" sz="1800" dirty="0">
                <a:effectLst/>
                <a:ea typeface="Times New Roman" panose="02020603050405020304" pitchFamily="18" charset="0"/>
              </a:rPr>
              <a:t>Among </a:t>
            </a:r>
            <a:r>
              <a:rPr lang="en-US" sz="1800" b="1" dirty="0">
                <a:effectLst/>
                <a:ea typeface="Times New Roman" panose="02020603050405020304" pitchFamily="18" charset="0"/>
              </a:rPr>
              <a:t>CNN</a:t>
            </a:r>
            <a:r>
              <a:rPr lang="en-US" sz="1800" dirty="0">
                <a:effectLst/>
                <a:ea typeface="Times New Roman" panose="02020603050405020304" pitchFamily="18" charset="0"/>
              </a:rPr>
              <a:t> architectures, </a:t>
            </a:r>
            <a:r>
              <a:rPr lang="en-US" sz="1800" b="1" dirty="0">
                <a:effectLst/>
                <a:ea typeface="Times New Roman" panose="02020603050405020304" pitchFamily="18" charset="0"/>
              </a:rPr>
              <a:t>MobileNetV2</a:t>
            </a:r>
            <a:r>
              <a:rPr lang="en-US" sz="1800" dirty="0">
                <a:effectLst/>
                <a:ea typeface="Times New Roman" panose="02020603050405020304" pitchFamily="18" charset="0"/>
              </a:rPr>
              <a:t> stands out for its efficiency and suitability for deployment on resource-constrained devices such as smartphones, making it ideal for field applications in agriculture. </a:t>
            </a:r>
          </a:p>
          <a:p>
            <a:pPr algn="just"/>
            <a:r>
              <a:rPr lang="en-US" sz="1800" dirty="0">
                <a:effectLst/>
                <a:ea typeface="Times New Roman" panose="02020603050405020304" pitchFamily="18" charset="0"/>
              </a:rPr>
              <a:t>This report presents a comprehensive, reproducible, and deployment-ready Python implementation for coffee disease detection using MobileNetV2 in TensorFlow and </a:t>
            </a:r>
            <a:r>
              <a:rPr lang="en-US" sz="1800" dirty="0" err="1">
                <a:effectLst/>
                <a:ea typeface="Times New Roman" panose="02020603050405020304" pitchFamily="18" charset="0"/>
              </a:rPr>
              <a:t>Keras</a:t>
            </a:r>
            <a:r>
              <a:rPr lang="en-US" sz="1800" dirty="0">
                <a:effectLst/>
                <a:ea typeface="Times New Roman" panose="02020603050405020304" pitchFamily="18" charset="0"/>
              </a:rPr>
              <a:t>. The system is designed to classify coffee leaf images into three categories: </a:t>
            </a:r>
            <a:r>
              <a:rPr lang="en-US" sz="1800" b="1" dirty="0">
                <a:effectLst/>
                <a:ea typeface="Times New Roman" panose="02020603050405020304" pitchFamily="18" charset="0"/>
              </a:rPr>
              <a:t>Healthy</a:t>
            </a:r>
            <a:r>
              <a:rPr lang="en-US" sz="1800" dirty="0">
                <a:effectLst/>
                <a:ea typeface="Times New Roman" panose="02020603050405020304" pitchFamily="18" charset="0"/>
              </a:rPr>
              <a:t>, </a:t>
            </a:r>
            <a:r>
              <a:rPr lang="en-US" sz="1800" b="1" dirty="0">
                <a:effectLst/>
                <a:ea typeface="Times New Roman" panose="02020603050405020304" pitchFamily="18" charset="0"/>
              </a:rPr>
              <a:t>Rust</a:t>
            </a:r>
            <a:r>
              <a:rPr lang="en-US" sz="1800" dirty="0">
                <a:effectLst/>
                <a:ea typeface="Times New Roman" panose="02020603050405020304" pitchFamily="18" charset="0"/>
              </a:rPr>
              <a:t>, and </a:t>
            </a:r>
            <a:r>
              <a:rPr lang="en-US" sz="1800" b="1" dirty="0" err="1">
                <a:effectLst/>
                <a:ea typeface="Times New Roman" panose="02020603050405020304" pitchFamily="18" charset="0"/>
              </a:rPr>
              <a:t>Phoma</a:t>
            </a:r>
            <a:r>
              <a:rPr lang="en-US" sz="1800" dirty="0">
                <a:effectLst/>
                <a:ea typeface="Times New Roman" panose="02020603050405020304" pitchFamily="18" charset="0"/>
              </a:rPr>
              <a:t>.</a:t>
            </a:r>
            <a:endParaRPr lang="en-US" sz="1800" dirty="0"/>
          </a:p>
        </p:txBody>
      </p:sp>
      <p:pic>
        <p:nvPicPr>
          <p:cNvPr id="5" name="Picture 4">
            <a:extLst>
              <a:ext uri="{FF2B5EF4-FFF2-40B4-BE49-F238E27FC236}">
                <a16:creationId xmlns:a16="http://schemas.microsoft.com/office/drawing/2014/main" id="{8856C9CE-F119-135A-C2D5-F606B698F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0127" y="131728"/>
            <a:ext cx="831273" cy="831273"/>
          </a:xfrm>
          <a:prstGeom prst="rect">
            <a:avLst/>
          </a:prstGeom>
        </p:spPr>
      </p:pic>
      <p:sp>
        <p:nvSpPr>
          <p:cNvPr id="6" name="Footer Placeholder 5">
            <a:extLst>
              <a:ext uri="{FF2B5EF4-FFF2-40B4-BE49-F238E27FC236}">
                <a16:creationId xmlns:a16="http://schemas.microsoft.com/office/drawing/2014/main" id="{B0E88820-46CA-C217-F12F-4C9CD3B94ABE}"/>
              </a:ext>
            </a:extLst>
          </p:cNvPr>
          <p:cNvSpPr>
            <a:spLocks noGrp="1"/>
          </p:cNvSpPr>
          <p:nvPr>
            <p:ph type="ftr" sz="quarter" idx="11"/>
          </p:nvPr>
        </p:nvSpPr>
        <p:spPr/>
        <p:txBody>
          <a:bodyPr/>
          <a:lstStyle/>
          <a:p>
            <a:r>
              <a:rPr lang="en-US" altLang="en-US"/>
              <a:t>Coffee Disease Detection using image classification</a:t>
            </a:r>
          </a:p>
        </p:txBody>
      </p:sp>
      <p:sp>
        <p:nvSpPr>
          <p:cNvPr id="7" name="Slide Number Placeholder 6">
            <a:extLst>
              <a:ext uri="{FF2B5EF4-FFF2-40B4-BE49-F238E27FC236}">
                <a16:creationId xmlns:a16="http://schemas.microsoft.com/office/drawing/2014/main" id="{92AEB208-05A3-B9CA-335C-CADBE8995E96}"/>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3</a:t>
            </a:fld>
            <a:endParaRPr lang="en-CA" altLang="en-US"/>
          </a:p>
        </p:txBody>
      </p:sp>
    </p:spTree>
    <p:extLst>
      <p:ext uri="{BB962C8B-B14F-4D97-AF65-F5344CB8AC3E}">
        <p14:creationId xmlns:p14="http://schemas.microsoft.com/office/powerpoint/2010/main" val="280516395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81C92-3F00-A97A-A360-DDCFD104EC66}"/>
              </a:ext>
            </a:extLst>
          </p:cNvPr>
          <p:cNvSpPr>
            <a:spLocks noGrp="1"/>
          </p:cNvSpPr>
          <p:nvPr>
            <p:ph type="title"/>
          </p:nvPr>
        </p:nvSpPr>
        <p:spPr>
          <a:xfrm>
            <a:off x="369757" y="239843"/>
            <a:ext cx="10972800" cy="557134"/>
          </a:xfrm>
        </p:spPr>
        <p:txBody>
          <a:bodyPr/>
          <a:lstStyle/>
          <a:p>
            <a:r>
              <a:rPr lang="en-US" b="1" dirty="0"/>
              <a:t>Project Overview and Objectives</a:t>
            </a:r>
          </a:p>
        </p:txBody>
      </p:sp>
      <p:sp>
        <p:nvSpPr>
          <p:cNvPr id="3" name="Content Placeholder 2">
            <a:extLst>
              <a:ext uri="{FF2B5EF4-FFF2-40B4-BE49-F238E27FC236}">
                <a16:creationId xmlns:a16="http://schemas.microsoft.com/office/drawing/2014/main" id="{0C5227FF-2C06-ADAB-3B09-209EFD3F0AB8}"/>
              </a:ext>
            </a:extLst>
          </p:cNvPr>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rPr>
              <a:t>The primary objective of this project is to develop a robust, efficient, and interpretable AI system for the automated detection of coffee leaf diseases using image data. </a:t>
            </a:r>
          </a:p>
          <a:p>
            <a:pPr algn="just"/>
            <a:endParaRPr lang="en-US" sz="1800" dirty="0">
              <a:effectLst/>
              <a:latin typeface="Times New Roman" panose="02020603050405020304" pitchFamily="18" charset="0"/>
              <a:ea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rPr>
              <a:t>The system leverages transfer learning with MobileNetV2 pretrained on ImageNet, fine-tuned for the specific task of classifying images into three categories: Healthy, Rust, and </a:t>
            </a:r>
            <a:r>
              <a:rPr lang="en-US" sz="1800" dirty="0" err="1">
                <a:effectLst/>
                <a:latin typeface="Times New Roman" panose="02020603050405020304" pitchFamily="18" charset="0"/>
                <a:ea typeface="Times New Roman" panose="02020603050405020304" pitchFamily="18" charset="0"/>
              </a:rPr>
              <a:t>Phoma</a:t>
            </a:r>
            <a:r>
              <a:rPr lang="en-US" sz="1800" dirty="0">
                <a:effectLst/>
                <a:latin typeface="Times New Roman" panose="02020603050405020304" pitchFamily="18" charset="0"/>
                <a:ea typeface="Times New Roman" panose="02020603050405020304" pitchFamily="18" charset="0"/>
              </a:rPr>
              <a:t>.</a:t>
            </a:r>
          </a:p>
          <a:p>
            <a:pPr algn="just"/>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system is intended for use by researchers, agronomists, and developers aiming to deploy coffee disease detection solutions in real-world settings, including mobile and edge devices.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pic>
        <p:nvPicPr>
          <p:cNvPr id="4" name="Picture 3">
            <a:extLst>
              <a:ext uri="{FF2B5EF4-FFF2-40B4-BE49-F238E27FC236}">
                <a16:creationId xmlns:a16="http://schemas.microsoft.com/office/drawing/2014/main" id="{B592C99E-C6DD-C325-0F5D-CD7950C6FF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0127" y="131728"/>
            <a:ext cx="831273" cy="831273"/>
          </a:xfrm>
          <a:prstGeom prst="rect">
            <a:avLst/>
          </a:prstGeom>
        </p:spPr>
      </p:pic>
      <p:sp>
        <p:nvSpPr>
          <p:cNvPr id="5" name="Footer Placeholder 4">
            <a:extLst>
              <a:ext uri="{FF2B5EF4-FFF2-40B4-BE49-F238E27FC236}">
                <a16:creationId xmlns:a16="http://schemas.microsoft.com/office/drawing/2014/main" id="{90F6CD5E-F9FD-8B84-8AA4-B0E35ED12B50}"/>
              </a:ext>
            </a:extLst>
          </p:cNvPr>
          <p:cNvSpPr>
            <a:spLocks noGrp="1"/>
          </p:cNvSpPr>
          <p:nvPr>
            <p:ph type="ftr" sz="quarter" idx="11"/>
          </p:nvPr>
        </p:nvSpPr>
        <p:spPr/>
        <p:txBody>
          <a:bodyPr/>
          <a:lstStyle/>
          <a:p>
            <a:r>
              <a:rPr lang="en-US" altLang="en-US"/>
              <a:t>Coffee Disease Detection using image classification</a:t>
            </a:r>
          </a:p>
        </p:txBody>
      </p:sp>
      <p:sp>
        <p:nvSpPr>
          <p:cNvPr id="6" name="Slide Number Placeholder 5">
            <a:extLst>
              <a:ext uri="{FF2B5EF4-FFF2-40B4-BE49-F238E27FC236}">
                <a16:creationId xmlns:a16="http://schemas.microsoft.com/office/drawing/2014/main" id="{84161D48-40F8-F56E-17A4-E54764FDFAF8}"/>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4</a:t>
            </a:fld>
            <a:endParaRPr lang="en-CA" altLang="en-US"/>
          </a:p>
        </p:txBody>
      </p:sp>
    </p:spTree>
    <p:extLst>
      <p:ext uri="{BB962C8B-B14F-4D97-AF65-F5344CB8AC3E}">
        <p14:creationId xmlns:p14="http://schemas.microsoft.com/office/powerpoint/2010/main" val="4919893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2EE85-36BA-BB66-4BB4-21AFAB422A46}"/>
              </a:ext>
            </a:extLst>
          </p:cNvPr>
          <p:cNvSpPr>
            <a:spLocks noGrp="1"/>
          </p:cNvSpPr>
          <p:nvPr>
            <p:ph type="title"/>
          </p:nvPr>
        </p:nvSpPr>
        <p:spPr/>
        <p:txBody>
          <a:bodyPr>
            <a:normAutofit/>
          </a:bodyPr>
          <a:lstStyle/>
          <a:p>
            <a:r>
              <a:rPr lang="en-US" sz="4000" b="1" dirty="0"/>
              <a:t>Data Structure and Recommended Directory Layout</a:t>
            </a:r>
          </a:p>
        </p:txBody>
      </p:sp>
      <p:sp>
        <p:nvSpPr>
          <p:cNvPr id="3" name="Content Placeholder 2">
            <a:extLst>
              <a:ext uri="{FF2B5EF4-FFF2-40B4-BE49-F238E27FC236}">
                <a16:creationId xmlns:a16="http://schemas.microsoft.com/office/drawing/2014/main" id="{EB1C310D-293C-219E-5F79-CE1F0B59360E}"/>
              </a:ext>
            </a:extLst>
          </p:cNvPr>
          <p:cNvSpPr>
            <a:spLocks noGrp="1"/>
          </p:cNvSpPr>
          <p:nvPr>
            <p:ph sz="half" idx="1"/>
          </p:nvPr>
        </p:nvSpPr>
        <p:spPr>
          <a:xfrm>
            <a:off x="144905" y="1315387"/>
            <a:ext cx="5384800" cy="4572000"/>
          </a:xfrm>
        </p:spPr>
        <p:txBody>
          <a:bodyPr>
            <a:normAutofit lnSpcReduction="10000"/>
          </a:bodyPr>
          <a:lstStyle/>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well-organized dataset is foundational for effective model training and evaluation. The recommended directory structure for image classification tasks using TensorFlow and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Keras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as follows: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51DD69E6-44A9-5800-5FC8-0FDC9545FCD2}"/>
              </a:ext>
            </a:extLst>
          </p:cNvPr>
          <p:cNvSpPr>
            <a:spLocks noGrp="1"/>
          </p:cNvSpPr>
          <p:nvPr>
            <p:ph sz="half" idx="2"/>
          </p:nvPr>
        </p:nvSpPr>
        <p:spPr>
          <a:xfrm>
            <a:off x="6197600" y="1315387"/>
            <a:ext cx="5384800" cy="4572000"/>
          </a:xfrm>
        </p:spPr>
        <p:txBody>
          <a:bodyPr>
            <a:normAutofit lnSpcReduction="10000"/>
          </a:bodyPr>
          <a:lstStyle/>
          <a:p>
            <a:pPr marL="342900" lvl="0" indent="-342900" algn="just">
              <a:lnSpc>
                <a:spcPct val="107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train/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Contains images for model training, organized by class.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SzPts val="1000"/>
              <a:buFont typeface="Symbol" panose="05050102010706020507" pitchFamily="18" charset="2"/>
              <a:buChar char=""/>
              <a:tabLst>
                <a:tab pos="457200" algn="l"/>
              </a:tabLst>
            </a:pP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val</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Contains images for validation during training, used for hyperparameter tuning and early stopping.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test/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Contains images for final model evaluation, ensuring unbiased performance metrics.</a:t>
            </a:r>
          </a:p>
          <a:p>
            <a:pPr marL="342900" lvl="0" indent="-342900" algn="just">
              <a:lnSpc>
                <a:spcPct val="107000"/>
              </a:lnSpc>
              <a:buSzPts val="1000"/>
              <a:buFont typeface="Symbol" panose="05050102010706020507" pitchFamily="18" charset="2"/>
              <a:buChar char=""/>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structure is compatible with   </a:t>
            </a:r>
            <a:r>
              <a:rPr lang="en-US" sz="1800" dirty="0" err="1">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tf.keras.utils.image_dataset_from_directory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which infers class labels from subdirectory names. The dataset was split into training, validation, and test sets, typically using ratios 60:20:20, ensuring class balance where possible.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6" name="Picture 5">
            <a:extLst>
              <a:ext uri="{FF2B5EF4-FFF2-40B4-BE49-F238E27FC236}">
                <a16:creationId xmlns:a16="http://schemas.microsoft.com/office/drawing/2014/main" id="{F6E861A2-E742-F558-CD87-63A2BD83CB57}"/>
              </a:ext>
            </a:extLst>
          </p:cNvPr>
          <p:cNvPicPr>
            <a:picLocks noChangeAspect="1"/>
          </p:cNvPicPr>
          <p:nvPr/>
        </p:nvPicPr>
        <p:blipFill>
          <a:blip r:embed="rId2"/>
          <a:stretch>
            <a:fillRect/>
          </a:stretch>
        </p:blipFill>
        <p:spPr>
          <a:xfrm>
            <a:off x="1522333" y="2803160"/>
            <a:ext cx="5777877" cy="3681351"/>
          </a:xfrm>
          <a:prstGeom prst="rect">
            <a:avLst/>
          </a:prstGeom>
        </p:spPr>
      </p:pic>
      <p:pic>
        <p:nvPicPr>
          <p:cNvPr id="7" name="Picture 6">
            <a:extLst>
              <a:ext uri="{FF2B5EF4-FFF2-40B4-BE49-F238E27FC236}">
                <a16:creationId xmlns:a16="http://schemas.microsoft.com/office/drawing/2014/main" id="{C3663D6B-214E-5BF7-E6B7-7AAC9F174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4030" y="5653238"/>
            <a:ext cx="831273" cy="831273"/>
          </a:xfrm>
          <a:prstGeom prst="rect">
            <a:avLst/>
          </a:prstGeom>
        </p:spPr>
      </p:pic>
      <p:sp>
        <p:nvSpPr>
          <p:cNvPr id="8" name="Footer Placeholder 7">
            <a:extLst>
              <a:ext uri="{FF2B5EF4-FFF2-40B4-BE49-F238E27FC236}">
                <a16:creationId xmlns:a16="http://schemas.microsoft.com/office/drawing/2014/main" id="{A6B042AF-1936-D885-BA23-FC08AF2C7EB3}"/>
              </a:ext>
            </a:extLst>
          </p:cNvPr>
          <p:cNvSpPr>
            <a:spLocks noGrp="1"/>
          </p:cNvSpPr>
          <p:nvPr>
            <p:ph type="ftr" sz="quarter" idx="11"/>
          </p:nvPr>
        </p:nvSpPr>
        <p:spPr/>
        <p:txBody>
          <a:bodyPr/>
          <a:lstStyle/>
          <a:p>
            <a:r>
              <a:rPr lang="en-US" altLang="en-US"/>
              <a:t>Coffee Disease Detection using image classification</a:t>
            </a:r>
          </a:p>
        </p:txBody>
      </p:sp>
      <p:sp>
        <p:nvSpPr>
          <p:cNvPr id="9" name="Slide Number Placeholder 8">
            <a:extLst>
              <a:ext uri="{FF2B5EF4-FFF2-40B4-BE49-F238E27FC236}">
                <a16:creationId xmlns:a16="http://schemas.microsoft.com/office/drawing/2014/main" id="{F64CD1FF-2258-2B2B-FB36-E7BBDAD8132E}"/>
              </a:ext>
            </a:extLst>
          </p:cNvPr>
          <p:cNvSpPr>
            <a:spLocks noGrp="1"/>
          </p:cNvSpPr>
          <p:nvPr>
            <p:ph type="sldNum" sz="quarter" idx="10"/>
          </p:nvPr>
        </p:nvSpPr>
        <p:spPr/>
        <p:txBody>
          <a:bodyPr/>
          <a:lstStyle/>
          <a:p>
            <a:r>
              <a:rPr lang="en-US" altLang="en-US"/>
              <a:t>Slide 5.2- </a:t>
            </a:r>
            <a:fld id="{00D3ACD1-34BE-4891-90AB-298005062082}" type="slidenum">
              <a:rPr lang="en-US" altLang="en-US" smtClean="0"/>
              <a:pPr/>
              <a:t>5</a:t>
            </a:fld>
            <a:endParaRPr lang="en-CA" altLang="en-US"/>
          </a:p>
        </p:txBody>
      </p:sp>
    </p:spTree>
    <p:extLst>
      <p:ext uri="{BB962C8B-B14F-4D97-AF65-F5344CB8AC3E}">
        <p14:creationId xmlns:p14="http://schemas.microsoft.com/office/powerpoint/2010/main" val="39935741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8DAB-DB4D-FB41-1430-4DC959C2DDB3}"/>
              </a:ext>
            </a:extLst>
          </p:cNvPr>
          <p:cNvSpPr>
            <a:spLocks noGrp="1"/>
          </p:cNvSpPr>
          <p:nvPr>
            <p:ph type="title"/>
          </p:nvPr>
        </p:nvSpPr>
        <p:spPr>
          <a:xfrm>
            <a:off x="237794" y="-141157"/>
            <a:ext cx="10972800" cy="1066800"/>
          </a:xfrm>
        </p:spPr>
        <p:txBody>
          <a:bodyPr>
            <a:normAutofit/>
          </a:bodyPr>
          <a:lstStyle/>
          <a:p>
            <a:r>
              <a:rPr lang="en-US" sz="4000" b="1" dirty="0"/>
              <a:t>Data Loading with: </a:t>
            </a:r>
            <a:r>
              <a:rPr lang="en-US" sz="3100" b="1" i="1" dirty="0" err="1"/>
              <a:t>tf.keras.utils.image_dataset_from_directory</a:t>
            </a:r>
            <a:endParaRPr lang="en-US" sz="3100" b="1" i="1" dirty="0"/>
          </a:p>
        </p:txBody>
      </p:sp>
      <p:sp>
        <p:nvSpPr>
          <p:cNvPr id="3" name="Content Placeholder 2">
            <a:extLst>
              <a:ext uri="{FF2B5EF4-FFF2-40B4-BE49-F238E27FC236}">
                <a16:creationId xmlns:a16="http://schemas.microsoft.com/office/drawing/2014/main" id="{76F1FFB8-A1E0-ED23-A8CF-F10335896CEB}"/>
              </a:ext>
            </a:extLst>
          </p:cNvPr>
          <p:cNvSpPr>
            <a:spLocks noGrp="1"/>
          </p:cNvSpPr>
          <p:nvPr>
            <p:ph idx="1"/>
          </p:nvPr>
        </p:nvSpPr>
        <p:spPr>
          <a:xfrm>
            <a:off x="237794" y="1360357"/>
            <a:ext cx="10972800" cy="4572000"/>
          </a:xfrm>
        </p:spPr>
        <p:txBody>
          <a:bodyPr/>
          <a:lstStyle/>
          <a:p>
            <a:r>
              <a:rPr lang="en-US" sz="1800" dirty="0">
                <a:effectLst/>
                <a:latin typeface="Times New Roman" panose="02020603050405020304" pitchFamily="18" charset="0"/>
                <a:ea typeface="Times New Roman" panose="02020603050405020304" pitchFamily="18" charset="0"/>
              </a:rPr>
              <a:t>TensorFlow's </a:t>
            </a:r>
            <a:r>
              <a:rPr lang="en-US" sz="1800" dirty="0" err="1">
                <a:effectLst/>
                <a:highlight>
                  <a:srgbClr val="FFFF00"/>
                </a:highlight>
                <a:latin typeface="Courier New" panose="02070309020205020404" pitchFamily="49" charset="0"/>
                <a:ea typeface="Times New Roman" panose="02020603050405020304" pitchFamily="18" charset="0"/>
              </a:rPr>
              <a:t>image_dataset_from_directory</a:t>
            </a:r>
            <a:r>
              <a:rPr lang="en-US" sz="1800" dirty="0">
                <a:effectLst/>
                <a:highlight>
                  <a:srgbClr val="FFFF00"/>
                </a:highligh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utility was used to streamline the process of loading and batching image data for model training. </a:t>
            </a:r>
          </a:p>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approach ensured efficient data loading, automatic label assignment, and compatibility with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Keras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model training workflows.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F7A45BE0-D86B-6400-398C-5999048F350F}"/>
              </a:ext>
            </a:extLst>
          </p:cNvPr>
          <p:cNvPicPr>
            <a:picLocks noChangeAspect="1"/>
          </p:cNvPicPr>
          <p:nvPr/>
        </p:nvPicPr>
        <p:blipFill>
          <a:blip r:embed="rId2"/>
          <a:stretch>
            <a:fillRect/>
          </a:stretch>
        </p:blipFill>
        <p:spPr>
          <a:xfrm>
            <a:off x="1169234" y="2556886"/>
            <a:ext cx="8694294" cy="3963835"/>
          </a:xfrm>
          <a:prstGeom prst="rect">
            <a:avLst/>
          </a:prstGeom>
        </p:spPr>
      </p:pic>
      <p:pic>
        <p:nvPicPr>
          <p:cNvPr id="6" name="Picture 5">
            <a:extLst>
              <a:ext uri="{FF2B5EF4-FFF2-40B4-BE49-F238E27FC236}">
                <a16:creationId xmlns:a16="http://schemas.microsoft.com/office/drawing/2014/main" id="{CBFF4406-7BDF-8E90-5481-96B93204FC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4789" y="3440840"/>
            <a:ext cx="1360358" cy="1360358"/>
          </a:xfrm>
          <a:prstGeom prst="rect">
            <a:avLst/>
          </a:prstGeom>
        </p:spPr>
      </p:pic>
      <p:sp>
        <p:nvSpPr>
          <p:cNvPr id="7" name="Footer Placeholder 6">
            <a:extLst>
              <a:ext uri="{FF2B5EF4-FFF2-40B4-BE49-F238E27FC236}">
                <a16:creationId xmlns:a16="http://schemas.microsoft.com/office/drawing/2014/main" id="{1EE4A3FD-EDCC-93CE-63C2-CAD8F206D641}"/>
              </a:ext>
            </a:extLst>
          </p:cNvPr>
          <p:cNvSpPr>
            <a:spLocks noGrp="1"/>
          </p:cNvSpPr>
          <p:nvPr>
            <p:ph type="ftr" sz="quarter" idx="11"/>
          </p:nvPr>
        </p:nvSpPr>
        <p:spPr/>
        <p:txBody>
          <a:bodyPr/>
          <a:lstStyle/>
          <a:p>
            <a:r>
              <a:rPr lang="en-US" altLang="en-US"/>
              <a:t>Coffee Disease Detection using image classification</a:t>
            </a:r>
          </a:p>
        </p:txBody>
      </p:sp>
      <p:sp>
        <p:nvSpPr>
          <p:cNvPr id="8" name="Slide Number Placeholder 7">
            <a:extLst>
              <a:ext uri="{FF2B5EF4-FFF2-40B4-BE49-F238E27FC236}">
                <a16:creationId xmlns:a16="http://schemas.microsoft.com/office/drawing/2014/main" id="{8DBA2D27-68E1-C5B6-3FF5-5223A198023C}"/>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6</a:t>
            </a:fld>
            <a:endParaRPr lang="en-CA" altLang="en-US"/>
          </a:p>
        </p:txBody>
      </p:sp>
    </p:spTree>
    <p:extLst>
      <p:ext uri="{BB962C8B-B14F-4D97-AF65-F5344CB8AC3E}">
        <p14:creationId xmlns:p14="http://schemas.microsoft.com/office/powerpoint/2010/main" val="5809550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3B8BA-3B15-E175-A7B2-64DC4198851C}"/>
              </a:ext>
            </a:extLst>
          </p:cNvPr>
          <p:cNvSpPr>
            <a:spLocks noGrp="1"/>
          </p:cNvSpPr>
          <p:nvPr>
            <p:ph type="title"/>
          </p:nvPr>
        </p:nvSpPr>
        <p:spPr>
          <a:xfrm>
            <a:off x="152400" y="-145473"/>
            <a:ext cx="10972800" cy="1066800"/>
          </a:xfrm>
        </p:spPr>
        <p:txBody>
          <a:bodyPr>
            <a:normAutofit/>
          </a:bodyPr>
          <a:lstStyle/>
          <a:p>
            <a:r>
              <a:rPr lang="en-US" sz="3600" b="1" dirty="0"/>
              <a:t>Image Preprocessing and MobileNetV2 Input Requirements</a:t>
            </a:r>
          </a:p>
        </p:txBody>
      </p:sp>
      <p:sp>
        <p:nvSpPr>
          <p:cNvPr id="3" name="Content Placeholder 2">
            <a:extLst>
              <a:ext uri="{FF2B5EF4-FFF2-40B4-BE49-F238E27FC236}">
                <a16:creationId xmlns:a16="http://schemas.microsoft.com/office/drawing/2014/main" id="{62665973-520D-06AD-43EC-4E89D511CD46}"/>
              </a:ext>
            </a:extLst>
          </p:cNvPr>
          <p:cNvSpPr>
            <a:spLocks noGrp="1"/>
          </p:cNvSpPr>
          <p:nvPr>
            <p:ph idx="1"/>
          </p:nvPr>
        </p:nvSpPr>
        <p:spPr/>
        <p:txBody>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MobileNetV2 expected input images of shape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(224, 224, 3)</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pixel values scaled to the range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[-1, 1]</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Preprocessing steps include: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Resizing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All images were resized to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224x224</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pixels.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Normalization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Pixel values were scaled from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[0, 255]</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to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[-1, 1]</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using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tf.keras.applications.mobilenet_v2.preprocess_input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Batching and Prefetching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Datasets are batched and prefetched for optimal performance.</a:t>
            </a:r>
          </a:p>
          <a:p>
            <a:pPr marL="0" lvl="0" indent="0">
              <a:lnSpc>
                <a:spcPct val="107000"/>
              </a:lnSpc>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Including the preprocessing step in the data pipeline ensures that all images are correctly formatted for MobileNetV2, facilitating transfer learning and consistent model performance.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5D4A984C-7753-60EE-CF6E-6828B3029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1472" y="4918474"/>
            <a:ext cx="1530928" cy="1530928"/>
          </a:xfrm>
          <a:prstGeom prst="rect">
            <a:avLst/>
          </a:prstGeom>
        </p:spPr>
      </p:pic>
      <p:sp>
        <p:nvSpPr>
          <p:cNvPr id="5" name="Footer Placeholder 4">
            <a:extLst>
              <a:ext uri="{FF2B5EF4-FFF2-40B4-BE49-F238E27FC236}">
                <a16:creationId xmlns:a16="http://schemas.microsoft.com/office/drawing/2014/main" id="{11FF126B-CE5D-3B58-5FF0-E71D05EF5EB1}"/>
              </a:ext>
            </a:extLst>
          </p:cNvPr>
          <p:cNvSpPr>
            <a:spLocks noGrp="1"/>
          </p:cNvSpPr>
          <p:nvPr>
            <p:ph type="ftr" sz="quarter" idx="11"/>
          </p:nvPr>
        </p:nvSpPr>
        <p:spPr/>
        <p:txBody>
          <a:bodyPr/>
          <a:lstStyle/>
          <a:p>
            <a:r>
              <a:rPr lang="en-US" altLang="en-US"/>
              <a:t>Coffee Disease Detection using image classification</a:t>
            </a:r>
          </a:p>
        </p:txBody>
      </p:sp>
      <p:sp>
        <p:nvSpPr>
          <p:cNvPr id="6" name="Slide Number Placeholder 5">
            <a:extLst>
              <a:ext uri="{FF2B5EF4-FFF2-40B4-BE49-F238E27FC236}">
                <a16:creationId xmlns:a16="http://schemas.microsoft.com/office/drawing/2014/main" id="{94269A86-1C99-7A75-4CBE-E758CC850E10}"/>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7</a:t>
            </a:fld>
            <a:endParaRPr lang="en-CA" altLang="en-US"/>
          </a:p>
        </p:txBody>
      </p:sp>
    </p:spTree>
    <p:extLst>
      <p:ext uri="{BB962C8B-B14F-4D97-AF65-F5344CB8AC3E}">
        <p14:creationId xmlns:p14="http://schemas.microsoft.com/office/powerpoint/2010/main" val="3090182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5316E-1100-3D46-3013-13B8D1A79313}"/>
              </a:ext>
            </a:extLst>
          </p:cNvPr>
          <p:cNvSpPr>
            <a:spLocks noGrp="1"/>
          </p:cNvSpPr>
          <p:nvPr>
            <p:ph type="title"/>
          </p:nvPr>
        </p:nvSpPr>
        <p:spPr>
          <a:xfrm>
            <a:off x="232557" y="-198053"/>
            <a:ext cx="10972800" cy="1066800"/>
          </a:xfrm>
        </p:spPr>
        <p:txBody>
          <a:bodyPr>
            <a:normAutofit/>
          </a:bodyPr>
          <a:lstStyle/>
          <a:p>
            <a:r>
              <a:rPr lang="en-US" sz="3600" b="1" dirty="0"/>
              <a:t>Data Augmentation Techniques and Implementation</a:t>
            </a:r>
          </a:p>
        </p:txBody>
      </p:sp>
      <p:sp>
        <p:nvSpPr>
          <p:cNvPr id="3" name="Content Placeholder 2">
            <a:extLst>
              <a:ext uri="{FF2B5EF4-FFF2-40B4-BE49-F238E27FC236}">
                <a16:creationId xmlns:a16="http://schemas.microsoft.com/office/drawing/2014/main" id="{88497455-7A77-E7B3-9B2D-CA787BA5C09A}"/>
              </a:ext>
            </a:extLst>
          </p:cNvPr>
          <p:cNvSpPr>
            <a:spLocks noGrp="1"/>
          </p:cNvSpPr>
          <p:nvPr>
            <p:ph idx="1"/>
          </p:nvPr>
        </p:nvSpPr>
        <p:spPr>
          <a:xfrm>
            <a:off x="414728" y="1390337"/>
            <a:ext cx="10972800" cy="4572000"/>
          </a:xfrm>
        </p:spPr>
        <p:txBody>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augmentation is critical for improving model generalization, especially when the dataset is limited or imbalanced. The augmentation techniques used included: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600"/>
              </a:spcBef>
              <a:buSzPts val="1000"/>
              <a:buNone/>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Random Flipping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Horizontal and vertical flips.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600"/>
              </a:spcBef>
              <a:buSzPts val="1000"/>
              <a:buNone/>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Random Rotation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Rotating images by small angles.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600"/>
              </a:spcBef>
              <a:buSzPts val="1000"/>
              <a:buNone/>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Random Zoom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Zooming in or out.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600"/>
              </a:spcBef>
              <a:buSzPts val="1000"/>
              <a:buNone/>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Random Contrast and Brightness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Adjusting image contrast and brightness.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Bef>
                <a:spcPts val="600"/>
              </a:spcBef>
              <a:buSzPts val="1000"/>
              <a:buNone/>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Random Translation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Shifting images horizontally or vertically.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TensorFlow provided the preprocessing layers for augmentation, which we included in the model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BE1D8E46-B677-832A-0880-CA8B17C7B82D}"/>
              </a:ext>
            </a:extLst>
          </p:cNvPr>
          <p:cNvPicPr>
            <a:picLocks noChangeAspect="1"/>
          </p:cNvPicPr>
          <p:nvPr/>
        </p:nvPicPr>
        <p:blipFill>
          <a:blip r:embed="rId2"/>
          <a:stretch>
            <a:fillRect/>
          </a:stretch>
        </p:blipFill>
        <p:spPr>
          <a:xfrm>
            <a:off x="232557" y="4076438"/>
            <a:ext cx="10799619" cy="2407489"/>
          </a:xfrm>
          <a:prstGeom prst="rect">
            <a:avLst/>
          </a:prstGeom>
        </p:spPr>
      </p:pic>
      <p:pic>
        <p:nvPicPr>
          <p:cNvPr id="6" name="Picture 5">
            <a:extLst>
              <a:ext uri="{FF2B5EF4-FFF2-40B4-BE49-F238E27FC236}">
                <a16:creationId xmlns:a16="http://schemas.microsoft.com/office/drawing/2014/main" id="{27CB975D-5B22-99D6-3C76-C14F6C6C3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1127" y="117763"/>
            <a:ext cx="928255" cy="928255"/>
          </a:xfrm>
          <a:prstGeom prst="rect">
            <a:avLst/>
          </a:prstGeom>
        </p:spPr>
      </p:pic>
      <p:sp>
        <p:nvSpPr>
          <p:cNvPr id="7" name="Footer Placeholder 6">
            <a:extLst>
              <a:ext uri="{FF2B5EF4-FFF2-40B4-BE49-F238E27FC236}">
                <a16:creationId xmlns:a16="http://schemas.microsoft.com/office/drawing/2014/main" id="{E8F53372-38C5-8617-2AF9-EDCF60D593B1}"/>
              </a:ext>
            </a:extLst>
          </p:cNvPr>
          <p:cNvSpPr>
            <a:spLocks noGrp="1"/>
          </p:cNvSpPr>
          <p:nvPr>
            <p:ph type="ftr" sz="quarter" idx="11"/>
          </p:nvPr>
        </p:nvSpPr>
        <p:spPr/>
        <p:txBody>
          <a:bodyPr/>
          <a:lstStyle/>
          <a:p>
            <a:r>
              <a:rPr lang="en-US" altLang="en-US"/>
              <a:t>Coffee Disease Detection using image classification</a:t>
            </a:r>
          </a:p>
        </p:txBody>
      </p:sp>
      <p:sp>
        <p:nvSpPr>
          <p:cNvPr id="8" name="Slide Number Placeholder 7">
            <a:extLst>
              <a:ext uri="{FF2B5EF4-FFF2-40B4-BE49-F238E27FC236}">
                <a16:creationId xmlns:a16="http://schemas.microsoft.com/office/drawing/2014/main" id="{1A053A7C-819E-A35E-6C64-5788ACC44D65}"/>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8</a:t>
            </a:fld>
            <a:endParaRPr lang="en-CA" altLang="en-US"/>
          </a:p>
        </p:txBody>
      </p:sp>
    </p:spTree>
    <p:extLst>
      <p:ext uri="{BB962C8B-B14F-4D97-AF65-F5344CB8AC3E}">
        <p14:creationId xmlns:p14="http://schemas.microsoft.com/office/powerpoint/2010/main" val="231376620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4E7D1-68E8-EC36-FDFE-C44F8AD30557}"/>
              </a:ext>
            </a:extLst>
          </p:cNvPr>
          <p:cNvSpPr>
            <a:spLocks noGrp="1"/>
          </p:cNvSpPr>
          <p:nvPr>
            <p:ph type="title"/>
          </p:nvPr>
        </p:nvSpPr>
        <p:spPr>
          <a:xfrm>
            <a:off x="229849" y="284813"/>
            <a:ext cx="11352551" cy="1066800"/>
          </a:xfrm>
        </p:spPr>
        <p:txBody>
          <a:bodyPr>
            <a:normAutofit fontScale="90000"/>
          </a:bodyPr>
          <a:lstStyle/>
          <a:p>
            <a:pPr algn="just">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Building the Model: MobileNetV2 Base with ImageNet Weights</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04CC46B-8180-39F0-3C16-1B5C1A3A4C46}"/>
              </a:ext>
            </a:extLst>
          </p:cNvPr>
          <p:cNvSpPr>
            <a:spLocks noGrp="1"/>
          </p:cNvSpPr>
          <p:nvPr>
            <p:ph idx="1"/>
          </p:nvPr>
        </p:nvSpPr>
        <p:spPr/>
        <p:txBody>
          <a:bodyPr>
            <a:normAutofit/>
          </a:bodyPr>
          <a:lstStyle/>
          <a:p>
            <a:pPr marL="0" indent="0">
              <a:lnSpc>
                <a:spcPct val="107000"/>
              </a:lnSpc>
              <a:spcAft>
                <a:spcPts val="800"/>
              </a:spcAft>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Why MobileNetV2?</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MobileNetV2 is a lightweight, efficient CNN architecture designed for mobile and edge deployment. It employs inverted residual blocks and depthwise separable convolutions, significantly reducing the number of parameters and computational cost without sacrificing accuracy. MobileNetV2 pretrained on ImageNet provides a strong feature extractor for transfer learning in plant disease detection.</a:t>
            </a:r>
          </a:p>
          <a:p>
            <a:pPr marL="0" indent="0" algn="just">
              <a:lnSpc>
                <a:spcPct val="107000"/>
              </a:lnSpc>
              <a:spcAft>
                <a:spcPts val="800"/>
              </a:spcAft>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Model Construction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model was constructed by: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Loading MobileNetV2 as the base model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a:t>
            </a:r>
            <a:r>
              <a:rPr lang="en-US" sz="1800" dirty="0" err="1">
                <a:effectLst/>
                <a:latin typeface="Courier New" panose="02070309020205020404" pitchFamily="49" charset="0"/>
                <a:ea typeface="Times New Roman" panose="02020603050405020304" pitchFamily="18" charset="0"/>
                <a:cs typeface="Times New Roman" panose="02020603050405020304" pitchFamily="18" charset="0"/>
              </a:rPr>
              <a:t>include_top</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=False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to exclude the original classification head.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Freezing the base model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during initial training to leverage pretrained features.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Adding a custom classification head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tailored to the three target classes.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Optionally unfreezing selected layers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fine-tuning after initial convergence.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C913E00B-8D36-D446-2D39-7CE6EC95A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9346" y="4945278"/>
            <a:ext cx="1475509" cy="1475509"/>
          </a:xfrm>
          <a:prstGeom prst="rect">
            <a:avLst/>
          </a:prstGeom>
        </p:spPr>
      </p:pic>
      <p:sp>
        <p:nvSpPr>
          <p:cNvPr id="5" name="Footer Placeholder 4">
            <a:extLst>
              <a:ext uri="{FF2B5EF4-FFF2-40B4-BE49-F238E27FC236}">
                <a16:creationId xmlns:a16="http://schemas.microsoft.com/office/drawing/2014/main" id="{3C5690A4-EC95-22B2-D4D9-B0B41BD32BE0}"/>
              </a:ext>
            </a:extLst>
          </p:cNvPr>
          <p:cNvSpPr>
            <a:spLocks noGrp="1"/>
          </p:cNvSpPr>
          <p:nvPr>
            <p:ph type="ftr" sz="quarter" idx="11"/>
          </p:nvPr>
        </p:nvSpPr>
        <p:spPr/>
        <p:txBody>
          <a:bodyPr/>
          <a:lstStyle/>
          <a:p>
            <a:r>
              <a:rPr lang="en-US" altLang="en-US"/>
              <a:t>Coffee Disease Detection using image classification</a:t>
            </a:r>
          </a:p>
        </p:txBody>
      </p:sp>
      <p:sp>
        <p:nvSpPr>
          <p:cNvPr id="6" name="Slide Number Placeholder 5">
            <a:extLst>
              <a:ext uri="{FF2B5EF4-FFF2-40B4-BE49-F238E27FC236}">
                <a16:creationId xmlns:a16="http://schemas.microsoft.com/office/drawing/2014/main" id="{1477D216-48A9-9C2A-9FAA-434E4E638287}"/>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9</a:t>
            </a:fld>
            <a:endParaRPr lang="en-CA" altLang="en-US"/>
          </a:p>
        </p:txBody>
      </p:sp>
    </p:spTree>
    <p:extLst>
      <p:ext uri="{BB962C8B-B14F-4D97-AF65-F5344CB8AC3E}">
        <p14:creationId xmlns:p14="http://schemas.microsoft.com/office/powerpoint/2010/main" val="130964283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C82A-0468-DC60-D000-7AA7FCE59AB2}"/>
              </a:ext>
            </a:extLst>
          </p:cNvPr>
          <p:cNvSpPr>
            <a:spLocks noGrp="1"/>
          </p:cNvSpPr>
          <p:nvPr>
            <p:ph type="title"/>
          </p:nvPr>
        </p:nvSpPr>
        <p:spPr>
          <a:xfrm>
            <a:off x="214859" y="-211779"/>
            <a:ext cx="11367541" cy="1066800"/>
          </a:xfrm>
        </p:spPr>
        <p:txBody>
          <a:bodyPr>
            <a:normAutofit/>
          </a:bodyPr>
          <a:lstStyle/>
          <a:p>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Building the Model: MobileNetV2 Base with ImageNet Weights</a:t>
            </a:r>
            <a:endParaRPr lang="en-US" sz="3200" dirty="0"/>
          </a:p>
        </p:txBody>
      </p:sp>
      <p:pic>
        <p:nvPicPr>
          <p:cNvPr id="5" name="Content Placeholder 4">
            <a:extLst>
              <a:ext uri="{FF2B5EF4-FFF2-40B4-BE49-F238E27FC236}">
                <a16:creationId xmlns:a16="http://schemas.microsoft.com/office/drawing/2014/main" id="{227DE775-1F7E-6715-9ED7-5116D20C7985}"/>
              </a:ext>
            </a:extLst>
          </p:cNvPr>
          <p:cNvPicPr>
            <a:picLocks noGrp="1" noChangeAspect="1"/>
          </p:cNvPicPr>
          <p:nvPr>
            <p:ph idx="1"/>
          </p:nvPr>
        </p:nvPicPr>
        <p:blipFill>
          <a:blip r:embed="rId2"/>
          <a:stretch>
            <a:fillRect/>
          </a:stretch>
        </p:blipFill>
        <p:spPr>
          <a:xfrm>
            <a:off x="366155" y="1422009"/>
            <a:ext cx="10972800" cy="4013981"/>
          </a:xfrm>
        </p:spPr>
      </p:pic>
      <p:sp>
        <p:nvSpPr>
          <p:cNvPr id="7" name="TextBox 6">
            <a:extLst>
              <a:ext uri="{FF2B5EF4-FFF2-40B4-BE49-F238E27FC236}">
                <a16:creationId xmlns:a16="http://schemas.microsoft.com/office/drawing/2014/main" id="{39E296A3-5D8E-54E7-79F4-7C5ABCCB527F}"/>
              </a:ext>
            </a:extLst>
          </p:cNvPr>
          <p:cNvSpPr txBox="1"/>
          <p:nvPr/>
        </p:nvSpPr>
        <p:spPr>
          <a:xfrm>
            <a:off x="315686" y="5628902"/>
            <a:ext cx="11023269" cy="374077"/>
          </a:xfrm>
          <a:prstGeom prst="rect">
            <a:avLst/>
          </a:prstGeom>
          <a:noFill/>
        </p:spPr>
        <p:txBody>
          <a:bodyPr wrap="square">
            <a:spAutoFit/>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architecture ensures efficient feature extraction and adaptability to the specific coffee disease classification task.</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4F9EFCC6-9606-23D1-6529-788D4A264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8955" y="120204"/>
            <a:ext cx="831273" cy="831273"/>
          </a:xfrm>
          <a:prstGeom prst="rect">
            <a:avLst/>
          </a:prstGeom>
        </p:spPr>
      </p:pic>
      <p:sp>
        <p:nvSpPr>
          <p:cNvPr id="9" name="Footer Placeholder 8">
            <a:extLst>
              <a:ext uri="{FF2B5EF4-FFF2-40B4-BE49-F238E27FC236}">
                <a16:creationId xmlns:a16="http://schemas.microsoft.com/office/drawing/2014/main" id="{CCC7825F-216D-1C3F-6828-02D7E2B531F0}"/>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82A71C21-BD18-787D-5DF8-680818538F8E}"/>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10</a:t>
            </a:fld>
            <a:endParaRPr lang="en-CA" altLang="en-US"/>
          </a:p>
        </p:txBody>
      </p:sp>
    </p:spTree>
    <p:extLst>
      <p:ext uri="{BB962C8B-B14F-4D97-AF65-F5344CB8AC3E}">
        <p14:creationId xmlns:p14="http://schemas.microsoft.com/office/powerpoint/2010/main" val="141417075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FFFD-3F6F-161B-ACDA-DF70640B0E76}"/>
              </a:ext>
            </a:extLst>
          </p:cNvPr>
          <p:cNvSpPr>
            <a:spLocks noGrp="1"/>
          </p:cNvSpPr>
          <p:nvPr>
            <p:ph type="title"/>
          </p:nvPr>
        </p:nvSpPr>
        <p:spPr>
          <a:xfrm>
            <a:off x="369758" y="284813"/>
            <a:ext cx="10972800" cy="1066800"/>
          </a:xfrm>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Custom Classification Head Design for 3 Classes</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CDE9651-436A-9E1A-50CC-BF34DDF89417}"/>
              </a:ext>
            </a:extLst>
          </p:cNvPr>
          <p:cNvSpPr>
            <a:spLocks noGrp="1"/>
          </p:cNvSpPr>
          <p:nvPr>
            <p:ph idx="1"/>
          </p:nvPr>
        </p:nvSpPr>
        <p:spPr/>
        <p:txBody>
          <a:bodyPr>
            <a:normAutofit/>
          </a:bodyPr>
          <a:lstStyle/>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custom head typically included: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Global Average Pooling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Was used to reduces the spatial dimensions, summarizing feature maps.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Dropout Layer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was used to mitigate overfitting by randomly dropping units during training.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Dense Output Layer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Outputs class probabilities using </a:t>
            </a:r>
            <a:r>
              <a:rPr lang="en-US" sz="1800" dirty="0" err="1">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softmax</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activation for the three classes (Healthy, Rust,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Phoma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Rationale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GlobalAveragePooling2D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was preferred over flattening as it reduces the risk of overfitting and is more robust to spatial translations.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Dropout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(e.g., 0.2) further regularizes the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Dense layer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units=3</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activation='</a:t>
            </a:r>
            <a:r>
              <a:rPr lang="en-US" sz="1800" dirty="0" err="1">
                <a:effectLst/>
                <a:latin typeface="Courier New" panose="02070309020205020404" pitchFamily="49" charset="0"/>
                <a:ea typeface="Times New Roman" panose="02020603050405020304" pitchFamily="18" charset="0"/>
                <a:cs typeface="Times New Roman" panose="02020603050405020304" pitchFamily="18" charset="0"/>
              </a:rPr>
              <a:t>softmax</a:t>
            </a: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ensured the output matches the number of target classes.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47F0E007-4E72-1F26-A544-C6DB4EC980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0127" y="131728"/>
            <a:ext cx="831273" cy="831273"/>
          </a:xfrm>
          <a:prstGeom prst="rect">
            <a:avLst/>
          </a:prstGeom>
        </p:spPr>
      </p:pic>
      <p:sp>
        <p:nvSpPr>
          <p:cNvPr id="5" name="Footer Placeholder 4">
            <a:extLst>
              <a:ext uri="{FF2B5EF4-FFF2-40B4-BE49-F238E27FC236}">
                <a16:creationId xmlns:a16="http://schemas.microsoft.com/office/drawing/2014/main" id="{D953408D-A9EA-67B1-8695-53501A2A0499}"/>
              </a:ext>
            </a:extLst>
          </p:cNvPr>
          <p:cNvSpPr>
            <a:spLocks noGrp="1"/>
          </p:cNvSpPr>
          <p:nvPr>
            <p:ph type="ftr" sz="quarter" idx="11"/>
          </p:nvPr>
        </p:nvSpPr>
        <p:spPr/>
        <p:txBody>
          <a:bodyPr/>
          <a:lstStyle/>
          <a:p>
            <a:r>
              <a:rPr lang="en-US" altLang="en-US"/>
              <a:t>Coffee Disease Detection using image classification</a:t>
            </a:r>
          </a:p>
        </p:txBody>
      </p:sp>
      <p:sp>
        <p:nvSpPr>
          <p:cNvPr id="6" name="Slide Number Placeholder 5">
            <a:extLst>
              <a:ext uri="{FF2B5EF4-FFF2-40B4-BE49-F238E27FC236}">
                <a16:creationId xmlns:a16="http://schemas.microsoft.com/office/drawing/2014/main" id="{55E7D922-B38A-658D-2E0D-D665BDF3714C}"/>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11</a:t>
            </a:fld>
            <a:endParaRPr lang="en-CA" altLang="en-US"/>
          </a:p>
        </p:txBody>
      </p:sp>
    </p:spTree>
    <p:extLst>
      <p:ext uri="{BB962C8B-B14F-4D97-AF65-F5344CB8AC3E}">
        <p14:creationId xmlns:p14="http://schemas.microsoft.com/office/powerpoint/2010/main" val="195733429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6856-CD91-94C6-3A3F-818F3E9D5980}"/>
              </a:ext>
            </a:extLst>
          </p:cNvPr>
          <p:cNvSpPr>
            <a:spLocks noGrp="1"/>
          </p:cNvSpPr>
          <p:nvPr>
            <p:ph type="title"/>
          </p:nvPr>
        </p:nvSpPr>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Model Compilation: Loss, Optimizer, Metrics, Learning Rate</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8B91E85-8409-BE58-FD65-B6DE7077F3D9}"/>
              </a:ext>
            </a:extLst>
          </p:cNvPr>
          <p:cNvSpPr>
            <a:spLocks noGrp="1"/>
          </p:cNvSpPr>
          <p:nvPr>
            <p:ph idx="1"/>
          </p:nvPr>
        </p:nvSpPr>
        <p:spPr>
          <a:xfrm>
            <a:off x="288469" y="1143000"/>
            <a:ext cx="10972800" cy="4572000"/>
          </a:xfrm>
        </p:spPr>
        <p:txBody>
          <a:bodyPr>
            <a:normAutofit/>
          </a:bodyPr>
          <a:lstStyle/>
          <a:p>
            <a:pPr marL="0" indent="0" algn="just">
              <a:lnSpc>
                <a:spcPct val="100000"/>
              </a:lnSpc>
              <a:spcBef>
                <a:spcPts val="0"/>
              </a:spcBef>
              <a:spcAft>
                <a:spcPts val="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Loss Function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0000"/>
              </a:lnSpc>
              <a:spcBef>
                <a:spcPts val="0"/>
              </a:spcBef>
              <a:spcAft>
                <a:spcPts val="0"/>
              </a:spcAft>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Categorical Crossentropy</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was used for multi-class classification with one-hot encoded labels.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Optimizer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Bef>
                <a:spcPts val="0"/>
              </a:spcBef>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Adam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optimizer was used for its adaptive learning rate and robust convergence properties.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7000"/>
              </a:lnSpc>
              <a:spcBef>
                <a:spcPts val="0"/>
              </a:spcBef>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Accuracy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was the primary metric.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Additional metrics like (precision, recall, F1-score) were computed during evaluation.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Learning Rate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0000"/>
              </a:lnSpc>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low initial learning rate is applied for transfer learning.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0000"/>
              </a:lnSpc>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Learning rate schedulers or callbacks were used for dynamic adjustment.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CCDC7251-5E8E-7911-6750-E1BB4A089F80}"/>
              </a:ext>
            </a:extLst>
          </p:cNvPr>
          <p:cNvPicPr>
            <a:picLocks noChangeAspect="1"/>
          </p:cNvPicPr>
          <p:nvPr/>
        </p:nvPicPr>
        <p:blipFill>
          <a:blip r:embed="rId2"/>
          <a:stretch>
            <a:fillRect/>
          </a:stretch>
        </p:blipFill>
        <p:spPr>
          <a:xfrm>
            <a:off x="206730" y="4826833"/>
            <a:ext cx="11136279" cy="1858975"/>
          </a:xfrm>
          <a:prstGeom prst="rect">
            <a:avLst/>
          </a:prstGeom>
        </p:spPr>
      </p:pic>
      <p:pic>
        <p:nvPicPr>
          <p:cNvPr id="6" name="Picture 5">
            <a:extLst>
              <a:ext uri="{FF2B5EF4-FFF2-40B4-BE49-F238E27FC236}">
                <a16:creationId xmlns:a16="http://schemas.microsoft.com/office/drawing/2014/main" id="{F790A0B1-B5AF-1DE1-A3DC-C3BD1DDF28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7672" y="2193480"/>
            <a:ext cx="1454728" cy="1454728"/>
          </a:xfrm>
          <a:prstGeom prst="rect">
            <a:avLst/>
          </a:prstGeom>
        </p:spPr>
      </p:pic>
      <p:sp>
        <p:nvSpPr>
          <p:cNvPr id="7" name="Footer Placeholder 6">
            <a:extLst>
              <a:ext uri="{FF2B5EF4-FFF2-40B4-BE49-F238E27FC236}">
                <a16:creationId xmlns:a16="http://schemas.microsoft.com/office/drawing/2014/main" id="{02F3434B-44F2-2130-ED4B-A28F755712AE}"/>
              </a:ext>
            </a:extLst>
          </p:cNvPr>
          <p:cNvSpPr>
            <a:spLocks noGrp="1"/>
          </p:cNvSpPr>
          <p:nvPr>
            <p:ph type="ftr" sz="quarter" idx="11"/>
          </p:nvPr>
        </p:nvSpPr>
        <p:spPr/>
        <p:txBody>
          <a:bodyPr/>
          <a:lstStyle/>
          <a:p>
            <a:r>
              <a:rPr lang="en-US" altLang="en-US"/>
              <a:t>Coffee Disease Detection using image classification</a:t>
            </a:r>
          </a:p>
        </p:txBody>
      </p:sp>
      <p:sp>
        <p:nvSpPr>
          <p:cNvPr id="8" name="Slide Number Placeholder 7">
            <a:extLst>
              <a:ext uri="{FF2B5EF4-FFF2-40B4-BE49-F238E27FC236}">
                <a16:creationId xmlns:a16="http://schemas.microsoft.com/office/drawing/2014/main" id="{4D535C66-0C18-9F85-46F3-370214581F0E}"/>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12</a:t>
            </a:fld>
            <a:endParaRPr lang="en-CA" altLang="en-US"/>
          </a:p>
        </p:txBody>
      </p:sp>
    </p:spTree>
    <p:extLst>
      <p:ext uri="{BB962C8B-B14F-4D97-AF65-F5344CB8AC3E}">
        <p14:creationId xmlns:p14="http://schemas.microsoft.com/office/powerpoint/2010/main" val="227170628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71494-08CE-90CA-0122-BAE8FFF0F7EE}"/>
              </a:ext>
            </a:extLst>
          </p:cNvPr>
          <p:cNvSpPr>
            <a:spLocks noGrp="1"/>
          </p:cNvSpPr>
          <p:nvPr>
            <p:ph type="title"/>
          </p:nvPr>
        </p:nvSpPr>
        <p:spPr/>
        <p:txBody>
          <a:bodyPr>
            <a:normAutofit/>
          </a:bodyPr>
          <a:lstStyle/>
          <a:p>
            <a:r>
              <a:rPr lang="en-US" sz="3600" b="1" dirty="0">
                <a:effectLst/>
                <a:latin typeface="Times New Roman" panose="02020603050405020304" pitchFamily="18" charset="0"/>
                <a:ea typeface="Times New Roman" panose="02020603050405020304" pitchFamily="18" charset="0"/>
              </a:rPr>
              <a:t>Training Strategy and Callbacks</a:t>
            </a:r>
            <a:endParaRPr lang="en-US" sz="3600" dirty="0"/>
          </a:p>
        </p:txBody>
      </p:sp>
      <p:sp>
        <p:nvSpPr>
          <p:cNvPr id="3" name="Content Placeholder 2">
            <a:extLst>
              <a:ext uri="{FF2B5EF4-FFF2-40B4-BE49-F238E27FC236}">
                <a16:creationId xmlns:a16="http://schemas.microsoft.com/office/drawing/2014/main" id="{1DA3E164-E3E3-1E41-31D9-B0EB2BC78189}"/>
              </a:ext>
            </a:extLst>
          </p:cNvPr>
          <p:cNvSpPr>
            <a:spLocks noGrp="1"/>
          </p:cNvSpPr>
          <p:nvPr>
            <p:ph idx="1"/>
          </p:nvPr>
        </p:nvSpPr>
        <p:spPr>
          <a:xfrm>
            <a:off x="508806" y="1213223"/>
            <a:ext cx="11320007" cy="4572000"/>
          </a:xfrm>
        </p:spPr>
        <p:txBody>
          <a:bodyPr/>
          <a:lstStyle/>
          <a:p>
            <a:pPr marL="0" indent="0" algn="just">
              <a:lnSpc>
                <a:spcPct val="107000"/>
              </a:lnSpc>
              <a:spcBef>
                <a:spcPts val="0"/>
              </a:spcBef>
              <a:buNone/>
            </a:pPr>
            <a:r>
              <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Training Strategy</a:t>
            </a:r>
            <a:endParaRPr lang="en-US" sz="18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Initial Training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Train only the custom head with the base model frozen.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Fine-Tuning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Unfreeze selected layers of the base model and continue training with a lower learning rate.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buNone/>
            </a:pP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7000"/>
              </a:lnSpc>
              <a:spcBef>
                <a:spcPts val="0"/>
              </a:spcBef>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Callbacks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EarlyStopping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Stops training when validation loss ceases to improve, preventing overfitting and saving resources.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ModelCheckpoint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Saves the best model weights based on validation performance.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buSzPts val="1000"/>
              <a:tabLst>
                <a:tab pos="457200" algn="l"/>
              </a:tabLst>
            </a:pPr>
            <a:r>
              <a:rPr lang="en-U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TensorBoard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Enables real-time monitoring of training metrics and visualizations.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4A5DFD4D-D0FF-5551-2BDC-9193EE0472D7}"/>
              </a:ext>
            </a:extLst>
          </p:cNvPr>
          <p:cNvPicPr>
            <a:picLocks noChangeAspect="1"/>
          </p:cNvPicPr>
          <p:nvPr/>
        </p:nvPicPr>
        <p:blipFill>
          <a:blip r:embed="rId2"/>
          <a:stretch>
            <a:fillRect/>
          </a:stretch>
        </p:blipFill>
        <p:spPr>
          <a:xfrm>
            <a:off x="363186" y="3770452"/>
            <a:ext cx="11174384" cy="2143424"/>
          </a:xfrm>
          <a:prstGeom prst="rect">
            <a:avLst/>
          </a:prstGeom>
        </p:spPr>
      </p:pic>
      <p:sp>
        <p:nvSpPr>
          <p:cNvPr id="7" name="TextBox 6">
            <a:extLst>
              <a:ext uri="{FF2B5EF4-FFF2-40B4-BE49-F238E27FC236}">
                <a16:creationId xmlns:a16="http://schemas.microsoft.com/office/drawing/2014/main" id="{3EA9C18E-FBD1-94D8-2962-011FFC2C3080}"/>
              </a:ext>
            </a:extLst>
          </p:cNvPr>
          <p:cNvSpPr txBox="1"/>
          <p:nvPr/>
        </p:nvSpPr>
        <p:spPr>
          <a:xfrm>
            <a:off x="508807" y="6060299"/>
            <a:ext cx="10558995"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These callbacks ensured efficient training, model preservation, and insightful monitoring.</a:t>
            </a:r>
            <a:endParaRPr lang="en-US" dirty="0"/>
          </a:p>
        </p:txBody>
      </p:sp>
      <p:pic>
        <p:nvPicPr>
          <p:cNvPr id="8" name="Picture 7">
            <a:extLst>
              <a:ext uri="{FF2B5EF4-FFF2-40B4-BE49-F238E27FC236}">
                <a16:creationId xmlns:a16="http://schemas.microsoft.com/office/drawing/2014/main" id="{14BA6676-8183-5A58-347D-BD732C6A02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0127" y="131728"/>
            <a:ext cx="831273" cy="831273"/>
          </a:xfrm>
          <a:prstGeom prst="rect">
            <a:avLst/>
          </a:prstGeom>
        </p:spPr>
      </p:pic>
      <p:sp>
        <p:nvSpPr>
          <p:cNvPr id="9" name="Footer Placeholder 8">
            <a:extLst>
              <a:ext uri="{FF2B5EF4-FFF2-40B4-BE49-F238E27FC236}">
                <a16:creationId xmlns:a16="http://schemas.microsoft.com/office/drawing/2014/main" id="{94465D77-AA98-3895-9EFB-C2464B03E701}"/>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2CE13F3A-20A6-311B-331B-20F70DCA5169}"/>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13</a:t>
            </a:fld>
            <a:endParaRPr lang="en-CA" altLang="en-US"/>
          </a:p>
        </p:txBody>
      </p:sp>
    </p:spTree>
    <p:extLst>
      <p:ext uri="{BB962C8B-B14F-4D97-AF65-F5344CB8AC3E}">
        <p14:creationId xmlns:p14="http://schemas.microsoft.com/office/powerpoint/2010/main" val="333085696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A340A-1EA3-F01A-EB4C-630302F3DD6F}"/>
              </a:ext>
            </a:extLst>
          </p:cNvPr>
          <p:cNvSpPr>
            <a:spLocks noGrp="1"/>
          </p:cNvSpPr>
          <p:nvPr>
            <p:ph type="title"/>
          </p:nvPr>
        </p:nvSpPr>
        <p:spPr>
          <a:xfrm>
            <a:off x="189876" y="358514"/>
            <a:ext cx="10972800" cy="1066800"/>
          </a:xfrm>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Fine-Tuning Strategy and Layer Unfreezing Schedule</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094F54A-E869-64EA-5417-2856309F8430}"/>
              </a:ext>
            </a:extLst>
          </p:cNvPr>
          <p:cNvSpPr>
            <a:spLocks noGrp="1"/>
          </p:cNvSpPr>
          <p:nvPr>
            <p:ph idx="1"/>
          </p:nvPr>
        </p:nvSpPr>
        <p:spPr>
          <a:xfrm>
            <a:off x="473704" y="1143000"/>
            <a:ext cx="10972800" cy="4572000"/>
          </a:xfrm>
        </p:spPr>
        <p:txBody>
          <a:bodyPr/>
          <a:lstStyle/>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After initial convergence, fine-tuning the base model can yield significant performance gains: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Unfreeze the last N layers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of MobileNetV2 (e.g., last 20 layers).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Recompile the model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a lower learning rate (e.g., 1e-5).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Continue training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callbacks.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10171862-B237-7406-E72E-639177A8964C}"/>
              </a:ext>
            </a:extLst>
          </p:cNvPr>
          <p:cNvPicPr>
            <a:picLocks noChangeAspect="1"/>
          </p:cNvPicPr>
          <p:nvPr/>
        </p:nvPicPr>
        <p:blipFill>
          <a:blip r:embed="rId2"/>
          <a:stretch>
            <a:fillRect/>
          </a:stretch>
        </p:blipFill>
        <p:spPr>
          <a:xfrm>
            <a:off x="408214" y="2497520"/>
            <a:ext cx="9793822" cy="3468566"/>
          </a:xfrm>
          <a:prstGeom prst="rect">
            <a:avLst/>
          </a:prstGeom>
        </p:spPr>
      </p:pic>
      <p:sp>
        <p:nvSpPr>
          <p:cNvPr id="7" name="TextBox 6">
            <a:extLst>
              <a:ext uri="{FF2B5EF4-FFF2-40B4-BE49-F238E27FC236}">
                <a16:creationId xmlns:a16="http://schemas.microsoft.com/office/drawing/2014/main" id="{6C5BED8D-B5EA-1E05-8AC3-799B0A226705}"/>
              </a:ext>
            </a:extLst>
          </p:cNvPr>
          <p:cNvSpPr txBox="1"/>
          <p:nvPr/>
        </p:nvSpPr>
        <p:spPr>
          <a:xfrm>
            <a:off x="362444" y="6116561"/>
            <a:ext cx="11467111" cy="670440"/>
          </a:xfrm>
          <a:prstGeom prst="rect">
            <a:avLst/>
          </a:prstGeom>
          <a:noFill/>
        </p:spPr>
        <p:txBody>
          <a:bodyPr wrap="square">
            <a:spAutoFit/>
          </a:bodyPr>
          <a:lstStyle/>
          <a:p>
            <a:pPr algn="just">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approach allowed the model to adapt high-level features to the specific dataset while preserving the general representations learned from ImageNet.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994B9B91-57E4-4566-CAF3-C084EB339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5231" y="110946"/>
            <a:ext cx="831273" cy="831273"/>
          </a:xfrm>
          <a:prstGeom prst="rect">
            <a:avLst/>
          </a:prstGeom>
        </p:spPr>
      </p:pic>
      <p:sp>
        <p:nvSpPr>
          <p:cNvPr id="9" name="Footer Placeholder 8">
            <a:extLst>
              <a:ext uri="{FF2B5EF4-FFF2-40B4-BE49-F238E27FC236}">
                <a16:creationId xmlns:a16="http://schemas.microsoft.com/office/drawing/2014/main" id="{B48A46F5-F65E-5A45-40C0-26EE26D22740}"/>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5A78BDDD-94FE-A8F7-02D1-36ADD9ADAC1E}"/>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14</a:t>
            </a:fld>
            <a:endParaRPr lang="en-CA" altLang="en-US"/>
          </a:p>
        </p:txBody>
      </p:sp>
    </p:spTree>
    <p:extLst>
      <p:ext uri="{BB962C8B-B14F-4D97-AF65-F5344CB8AC3E}">
        <p14:creationId xmlns:p14="http://schemas.microsoft.com/office/powerpoint/2010/main" val="61830762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E6E85-87C3-333C-3B6D-D4D9C0CA30E2}"/>
              </a:ext>
            </a:extLst>
          </p:cNvPr>
          <p:cNvSpPr>
            <a:spLocks noGrp="1"/>
          </p:cNvSpPr>
          <p:nvPr>
            <p:ph type="title"/>
          </p:nvPr>
        </p:nvSpPr>
        <p:spPr>
          <a:xfrm>
            <a:off x="306490" y="292590"/>
            <a:ext cx="11160829" cy="1066800"/>
          </a:xfrm>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Handling Class Imbalance and Augmentation Strategies</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CDF9988-0ADB-CC3C-8A58-E1404C867536}"/>
              </a:ext>
            </a:extLst>
          </p:cNvPr>
          <p:cNvSpPr>
            <a:spLocks noGrp="1"/>
          </p:cNvSpPr>
          <p:nvPr>
            <p:ph idx="1"/>
          </p:nvPr>
        </p:nvSpPr>
        <p:spPr>
          <a:xfrm>
            <a:off x="421571" y="1211245"/>
            <a:ext cx="10972800" cy="4572000"/>
          </a:xfrm>
        </p:spPr>
        <p:txBody>
          <a:bodyPr/>
          <a:lstStyle/>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Class imbalance can bias the model toward majority classes, reducing performance on minority classes. Strategies include: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Augmentation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Generate more samples for minority classes.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Class Weights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Assign higher loss weights to underrepresented classes during training.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Oversampling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Duplicate minority class samples.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D208D750-4293-C4AB-BCC3-B53B7466E4E8}"/>
              </a:ext>
            </a:extLst>
          </p:cNvPr>
          <p:cNvPicPr>
            <a:picLocks noChangeAspect="1"/>
          </p:cNvPicPr>
          <p:nvPr/>
        </p:nvPicPr>
        <p:blipFill>
          <a:blip r:embed="rId2"/>
          <a:stretch>
            <a:fillRect/>
          </a:stretch>
        </p:blipFill>
        <p:spPr>
          <a:xfrm>
            <a:off x="201401" y="2780766"/>
            <a:ext cx="11569028" cy="3305636"/>
          </a:xfrm>
          <a:prstGeom prst="rect">
            <a:avLst/>
          </a:prstGeom>
        </p:spPr>
      </p:pic>
      <p:sp>
        <p:nvSpPr>
          <p:cNvPr id="7" name="TextBox 6">
            <a:extLst>
              <a:ext uri="{FF2B5EF4-FFF2-40B4-BE49-F238E27FC236}">
                <a16:creationId xmlns:a16="http://schemas.microsoft.com/office/drawing/2014/main" id="{70FA70B3-5C50-25CD-DAF4-262B16273936}"/>
              </a:ext>
            </a:extLst>
          </p:cNvPr>
          <p:cNvSpPr txBox="1"/>
          <p:nvPr/>
        </p:nvSpPr>
        <p:spPr>
          <a:xfrm>
            <a:off x="306490" y="6191333"/>
            <a:ext cx="11202962" cy="374077"/>
          </a:xfrm>
          <a:prstGeom prst="rect">
            <a:avLst/>
          </a:prstGeom>
          <a:noFill/>
        </p:spPr>
        <p:txBody>
          <a:bodyPr wrap="square">
            <a:spAutoFit/>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ensured that the model pays appropriate attention to all classes, improving fairness and robustness.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4C63FFFA-C17E-6055-B9B3-E42CA3C7BA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179" y="84921"/>
            <a:ext cx="831273" cy="831273"/>
          </a:xfrm>
          <a:prstGeom prst="rect">
            <a:avLst/>
          </a:prstGeom>
        </p:spPr>
      </p:pic>
      <p:sp>
        <p:nvSpPr>
          <p:cNvPr id="9" name="Footer Placeholder 8">
            <a:extLst>
              <a:ext uri="{FF2B5EF4-FFF2-40B4-BE49-F238E27FC236}">
                <a16:creationId xmlns:a16="http://schemas.microsoft.com/office/drawing/2014/main" id="{8352A29B-9738-970D-E1F0-52771045F179}"/>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72004200-0310-B3E1-3FF8-D400EA7880FD}"/>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15</a:t>
            </a:fld>
            <a:endParaRPr lang="en-CA" altLang="en-US"/>
          </a:p>
        </p:txBody>
      </p:sp>
    </p:spTree>
    <p:extLst>
      <p:ext uri="{BB962C8B-B14F-4D97-AF65-F5344CB8AC3E}">
        <p14:creationId xmlns:p14="http://schemas.microsoft.com/office/powerpoint/2010/main" val="152799945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60753-589C-1266-6BB5-BF868587ACFD}"/>
              </a:ext>
            </a:extLst>
          </p:cNvPr>
          <p:cNvSpPr>
            <a:spLocks noGrp="1"/>
          </p:cNvSpPr>
          <p:nvPr>
            <p:ph type="title"/>
          </p:nvPr>
        </p:nvSpPr>
        <p:spPr>
          <a:xfrm>
            <a:off x="202009" y="274648"/>
            <a:ext cx="11394277" cy="1066800"/>
          </a:xfrm>
        </p:spPr>
        <p:txBody>
          <a:bodyPr>
            <a:normAutofit fontScale="90000"/>
          </a:bodyPr>
          <a:lstStyle/>
          <a:p>
            <a:pPr>
              <a:lnSpc>
                <a:spcPct val="107000"/>
              </a:lnSpc>
              <a:spcAft>
                <a:spcPts val="800"/>
              </a:spcAft>
            </a:pPr>
            <a:r>
              <a:rPr lang="en-US" sz="3100" b="1" dirty="0">
                <a:effectLst/>
                <a:latin typeface="Times New Roman" panose="02020603050405020304" pitchFamily="18" charset="0"/>
                <a:ea typeface="Times New Roman" panose="02020603050405020304" pitchFamily="18" charset="0"/>
                <a:cs typeface="Times New Roman" panose="02020603050405020304" pitchFamily="18" charset="0"/>
              </a:rPr>
              <a:t>Monitoring Training: </a:t>
            </a:r>
            <a:r>
              <a:rPr lang="en-US" sz="3100" b="1" dirty="0" err="1">
                <a:effectLst/>
                <a:latin typeface="Times New Roman" panose="02020603050405020304" pitchFamily="18" charset="0"/>
                <a:ea typeface="Times New Roman" panose="02020603050405020304" pitchFamily="18" charset="0"/>
                <a:cs typeface="Times New Roman" panose="02020603050405020304" pitchFamily="18" charset="0"/>
              </a:rPr>
              <a:t>TensorBoard</a:t>
            </a:r>
            <a:r>
              <a:rPr lang="en-US" sz="3100" b="1" dirty="0">
                <a:effectLst/>
                <a:latin typeface="Times New Roman" panose="02020603050405020304" pitchFamily="18" charset="0"/>
                <a:ea typeface="Times New Roman" panose="02020603050405020304" pitchFamily="18" charset="0"/>
                <a:cs typeface="Times New Roman" panose="02020603050405020304" pitchFamily="18" charset="0"/>
              </a:rPr>
              <a:t> Integration and Visualizations</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5EECFED-7474-67D2-46FD-210825EC004C}"/>
              </a:ext>
            </a:extLst>
          </p:cNvPr>
          <p:cNvSpPr>
            <a:spLocks noGrp="1"/>
          </p:cNvSpPr>
          <p:nvPr>
            <p:ph idx="1"/>
          </p:nvPr>
        </p:nvSpPr>
        <p:spPr>
          <a:xfrm>
            <a:off x="525530" y="1318629"/>
            <a:ext cx="10972800" cy="4572000"/>
          </a:xfrm>
        </p:spPr>
        <p:txBody>
          <a:bodyPr/>
          <a:lstStyle/>
          <a:p>
            <a:pPr marL="0" indent="0">
              <a:lnSpc>
                <a:spcPct val="107000"/>
              </a:lnSpc>
              <a:spcAft>
                <a:spcPts val="800"/>
              </a:spcAft>
              <a:buNone/>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TensorBoard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provides powerful tools for monitoring training progress, visualizing metrics, and debugging models: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Scalars</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Track loss and accuracy over epochs.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Histograms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Visualize weight distributions.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Images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Display sample inputs and outputs.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SzPts val="1000"/>
              <a:buFont typeface="Symbol" panose="05050102010706020507" pitchFamily="18" charset="2"/>
              <a:buChar char=""/>
              <a:tabLst>
                <a:tab pos="4572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Graphs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Inspect model architecture.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04D09764-19AD-E525-F95F-6CDD279A47E9}"/>
              </a:ext>
            </a:extLst>
          </p:cNvPr>
          <p:cNvPicPr>
            <a:picLocks noChangeAspect="1"/>
          </p:cNvPicPr>
          <p:nvPr/>
        </p:nvPicPr>
        <p:blipFill>
          <a:blip r:embed="rId2"/>
          <a:stretch>
            <a:fillRect/>
          </a:stretch>
        </p:blipFill>
        <p:spPr>
          <a:xfrm>
            <a:off x="398861" y="3131394"/>
            <a:ext cx="11000574" cy="2385158"/>
          </a:xfrm>
          <a:prstGeom prst="rect">
            <a:avLst/>
          </a:prstGeom>
        </p:spPr>
      </p:pic>
      <p:sp>
        <p:nvSpPr>
          <p:cNvPr id="7" name="TextBox 6">
            <a:extLst>
              <a:ext uri="{FF2B5EF4-FFF2-40B4-BE49-F238E27FC236}">
                <a16:creationId xmlns:a16="http://schemas.microsoft.com/office/drawing/2014/main" id="{449B428C-0DA6-4D84-D855-7718841589C4}"/>
              </a:ext>
            </a:extLst>
          </p:cNvPr>
          <p:cNvSpPr txBox="1"/>
          <p:nvPr/>
        </p:nvSpPr>
        <p:spPr>
          <a:xfrm>
            <a:off x="398860" y="5703590"/>
            <a:ext cx="11394277" cy="374077"/>
          </a:xfrm>
          <a:prstGeom prst="rect">
            <a:avLst/>
          </a:prstGeom>
          <a:noFill/>
        </p:spPr>
        <p:txBody>
          <a:bodyPr wrap="square">
            <a:spAutoFit/>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facilitates real-time tracking and post-training analysis, aiding in model optimization and troubleshooting.</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C3E47B30-B2FF-547F-30DF-C9CD29F96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1864" y="87610"/>
            <a:ext cx="831273" cy="831273"/>
          </a:xfrm>
          <a:prstGeom prst="rect">
            <a:avLst/>
          </a:prstGeom>
        </p:spPr>
      </p:pic>
      <p:sp>
        <p:nvSpPr>
          <p:cNvPr id="9" name="Footer Placeholder 8">
            <a:extLst>
              <a:ext uri="{FF2B5EF4-FFF2-40B4-BE49-F238E27FC236}">
                <a16:creationId xmlns:a16="http://schemas.microsoft.com/office/drawing/2014/main" id="{ADA02778-5291-E691-EBA8-1960BCCB2EC9}"/>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65DD33DB-E63C-3588-B97C-5315DE3E185F}"/>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16</a:t>
            </a:fld>
            <a:endParaRPr lang="en-CA" altLang="en-US"/>
          </a:p>
        </p:txBody>
      </p:sp>
    </p:spTree>
    <p:extLst>
      <p:ext uri="{BB962C8B-B14F-4D97-AF65-F5344CB8AC3E}">
        <p14:creationId xmlns:p14="http://schemas.microsoft.com/office/powerpoint/2010/main" val="160307983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6D544-CC65-7ADF-DD5A-40B8B15F3859}"/>
              </a:ext>
            </a:extLst>
          </p:cNvPr>
          <p:cNvSpPr>
            <a:spLocks noGrp="1"/>
          </p:cNvSpPr>
          <p:nvPr>
            <p:ph type="title"/>
          </p:nvPr>
        </p:nvSpPr>
        <p:spPr>
          <a:xfrm>
            <a:off x="104862" y="265497"/>
            <a:ext cx="11283984" cy="1066800"/>
          </a:xfrm>
        </p:spPr>
        <p:txBody>
          <a:bodyPr>
            <a:normAutofit fontScale="90000"/>
          </a:bodyPr>
          <a:lstStyle/>
          <a:p>
            <a:pPr>
              <a:lnSpc>
                <a:spcPct val="107000"/>
              </a:lnSpc>
              <a:spcAft>
                <a:spcPts val="800"/>
              </a:spcAft>
            </a:pPr>
            <a:r>
              <a:rPr lang="en-US" sz="3100" b="1" dirty="0">
                <a:effectLst/>
                <a:latin typeface="Times New Roman" panose="02020603050405020304" pitchFamily="18" charset="0"/>
                <a:ea typeface="Times New Roman" panose="02020603050405020304" pitchFamily="18" charset="0"/>
                <a:cs typeface="Times New Roman" panose="02020603050405020304" pitchFamily="18" charset="0"/>
              </a:rPr>
              <a:t>Evaluation: Confusion Matrix, Classification Report, Per-Class Metrics</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7264C91-4EF0-C051-CD99-53AB332F320F}"/>
              </a:ext>
            </a:extLst>
          </p:cNvPr>
          <p:cNvSpPr>
            <a:spLocks noGrp="1"/>
          </p:cNvSpPr>
          <p:nvPr>
            <p:ph idx="1"/>
          </p:nvPr>
        </p:nvSpPr>
        <p:spPr>
          <a:xfrm>
            <a:off x="416046" y="1332297"/>
            <a:ext cx="10972800" cy="4572000"/>
          </a:xfrm>
        </p:spPr>
        <p:txBody>
          <a:bodyPr/>
          <a:lstStyle/>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Comprehensive evaluation was essential for understanding model performance across all classes. Key metrics used included: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Confusion Matrix</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Visualizes true vs. predicted labels.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Classification Report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Provides precision, recall, F1-score, and support for each class.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D5E562C4-8DAD-A87E-7F09-78DA80393C63}"/>
              </a:ext>
            </a:extLst>
          </p:cNvPr>
          <p:cNvPicPr>
            <a:picLocks noChangeAspect="1"/>
          </p:cNvPicPr>
          <p:nvPr/>
        </p:nvPicPr>
        <p:blipFill>
          <a:blip r:embed="rId2"/>
          <a:stretch>
            <a:fillRect/>
          </a:stretch>
        </p:blipFill>
        <p:spPr>
          <a:xfrm>
            <a:off x="260453" y="2857305"/>
            <a:ext cx="11283985" cy="3448531"/>
          </a:xfrm>
          <a:prstGeom prst="rect">
            <a:avLst/>
          </a:prstGeom>
        </p:spPr>
      </p:pic>
      <p:sp>
        <p:nvSpPr>
          <p:cNvPr id="7" name="TextBox 6">
            <a:extLst>
              <a:ext uri="{FF2B5EF4-FFF2-40B4-BE49-F238E27FC236}">
                <a16:creationId xmlns:a16="http://schemas.microsoft.com/office/drawing/2014/main" id="{E4F5BDB6-A27F-9238-0C5B-526C8215821B}"/>
              </a:ext>
            </a:extLst>
          </p:cNvPr>
          <p:cNvSpPr txBox="1"/>
          <p:nvPr/>
        </p:nvSpPr>
        <p:spPr>
          <a:xfrm>
            <a:off x="164892" y="6305836"/>
            <a:ext cx="11163924" cy="374077"/>
          </a:xfrm>
          <a:prstGeom prst="rect">
            <a:avLst/>
          </a:prstGeom>
          <a:noFill/>
        </p:spPr>
        <p:txBody>
          <a:bodyPr wrap="square">
            <a:spAutoFit/>
          </a:bodyPr>
          <a:lstStyle/>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These metrics provided granular insights into the model strengths and weaknesses, guiding further improvements.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843FD965-1614-B911-22D4-DD1F34A44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5865" y="178087"/>
            <a:ext cx="831273" cy="831273"/>
          </a:xfrm>
          <a:prstGeom prst="rect">
            <a:avLst/>
          </a:prstGeom>
        </p:spPr>
      </p:pic>
      <p:sp>
        <p:nvSpPr>
          <p:cNvPr id="9" name="Footer Placeholder 8">
            <a:extLst>
              <a:ext uri="{FF2B5EF4-FFF2-40B4-BE49-F238E27FC236}">
                <a16:creationId xmlns:a16="http://schemas.microsoft.com/office/drawing/2014/main" id="{5B4E2E3B-6885-3EEC-1BAC-AE7200F42813}"/>
              </a:ext>
            </a:extLst>
          </p:cNvPr>
          <p:cNvSpPr>
            <a:spLocks noGrp="1"/>
          </p:cNvSpPr>
          <p:nvPr>
            <p:ph type="ftr" sz="quarter" idx="11"/>
          </p:nvPr>
        </p:nvSpPr>
        <p:spPr/>
        <p:txBody>
          <a:bodyPr/>
          <a:lstStyle/>
          <a:p>
            <a:r>
              <a:rPr lang="en-US" altLang="en-US"/>
              <a:t>Coffee Disease Detection using image classification</a:t>
            </a:r>
          </a:p>
        </p:txBody>
      </p:sp>
      <p:sp>
        <p:nvSpPr>
          <p:cNvPr id="10" name="Slide Number Placeholder 9">
            <a:extLst>
              <a:ext uri="{FF2B5EF4-FFF2-40B4-BE49-F238E27FC236}">
                <a16:creationId xmlns:a16="http://schemas.microsoft.com/office/drawing/2014/main" id="{078F02C8-06CF-8A1A-7FFF-F2333656444A}"/>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17</a:t>
            </a:fld>
            <a:endParaRPr lang="en-CA" altLang="en-US"/>
          </a:p>
        </p:txBody>
      </p:sp>
    </p:spTree>
    <p:extLst>
      <p:ext uri="{BB962C8B-B14F-4D97-AF65-F5344CB8AC3E}">
        <p14:creationId xmlns:p14="http://schemas.microsoft.com/office/powerpoint/2010/main" val="26083209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5576B-F90A-D9A2-BB8F-C37BE24A4763}"/>
              </a:ext>
            </a:extLst>
          </p:cNvPr>
          <p:cNvSpPr>
            <a:spLocks noGrp="1"/>
          </p:cNvSpPr>
          <p:nvPr>
            <p:ph type="title"/>
          </p:nvPr>
        </p:nvSpPr>
        <p:spPr>
          <a:xfrm>
            <a:off x="239836" y="314794"/>
            <a:ext cx="10972800" cy="1066800"/>
          </a:xfrm>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Model Interpretability and Explainability (Grad-CAM)</a:t>
            </a:r>
            <a:br>
              <a:rPr lang="en-US" sz="2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6A15413-D5A7-49B9-5508-10F59863B06E}"/>
              </a:ext>
            </a:extLst>
          </p:cNvPr>
          <p:cNvSpPr>
            <a:spLocks noGrp="1"/>
          </p:cNvSpPr>
          <p:nvPr>
            <p:ph idx="1"/>
          </p:nvPr>
        </p:nvSpPr>
        <p:spPr>
          <a:xfrm>
            <a:off x="419720" y="1143000"/>
            <a:ext cx="10972800" cy="4572000"/>
          </a:xfrm>
        </p:spPr>
        <p:txBody>
          <a:bodyPr>
            <a:normAutofit/>
          </a:bodyPr>
          <a:lstStyle/>
          <a:p>
            <a:pPr marL="0" indent="0" algn="just">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Deep learning models are often criticized as "black boxes." Grad-CAM (Gradient-weighted Class Activation Mapping) addresses this by visualizing the regions of an image that most influence the model's predictions.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Implementation Steps: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Font typeface="+mj-lt"/>
              <a:buAutoNum type="arabicPeriod"/>
              <a:tabLst>
                <a:tab pos="457200"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Identify the last convolutional layer</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in the model.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Font typeface="+mj-lt"/>
              <a:buAutoNum type="arabicPeriod"/>
              <a:tabLst>
                <a:tab pos="457200"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Compute the gradient</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of the predicted class with respect to the feature maps.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Font typeface="+mj-lt"/>
              <a:buAutoNum type="arabicPeriod"/>
              <a:tabLst>
                <a:tab pos="457200"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Weight the feature maps</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by the computed gradients.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Font typeface="+mj-lt"/>
              <a:buAutoNum type="arabicPeriod"/>
              <a:tabLst>
                <a:tab pos="457200"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Aggregate and normalize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to produce a heatmap.</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0"/>
              </a:spcBef>
              <a:buFont typeface="+mj-lt"/>
              <a:buAutoNum type="arabicPeriod"/>
              <a:tabLst>
                <a:tab pos="457200"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Overlay the heatmap</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on the original image for visualization.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7" name="Picture 6">
            <a:extLst>
              <a:ext uri="{FF2B5EF4-FFF2-40B4-BE49-F238E27FC236}">
                <a16:creationId xmlns:a16="http://schemas.microsoft.com/office/drawing/2014/main" id="{4F70A49F-2E67-311E-D56C-D9D8363FAAE6}"/>
              </a:ext>
            </a:extLst>
          </p:cNvPr>
          <p:cNvPicPr>
            <a:picLocks noChangeAspect="1"/>
          </p:cNvPicPr>
          <p:nvPr/>
        </p:nvPicPr>
        <p:blipFill>
          <a:blip r:embed="rId2"/>
          <a:stretch>
            <a:fillRect/>
          </a:stretch>
        </p:blipFill>
        <p:spPr>
          <a:xfrm>
            <a:off x="202361" y="3560137"/>
            <a:ext cx="11684839" cy="2647007"/>
          </a:xfrm>
          <a:prstGeom prst="rect">
            <a:avLst/>
          </a:prstGeom>
        </p:spPr>
      </p:pic>
      <p:sp>
        <p:nvSpPr>
          <p:cNvPr id="9" name="TextBox 8">
            <a:extLst>
              <a:ext uri="{FF2B5EF4-FFF2-40B4-BE49-F238E27FC236}">
                <a16:creationId xmlns:a16="http://schemas.microsoft.com/office/drawing/2014/main" id="{7BA40689-DB14-96F6-279E-4B9E878DE37F}"/>
              </a:ext>
            </a:extLst>
          </p:cNvPr>
          <p:cNvSpPr txBox="1"/>
          <p:nvPr/>
        </p:nvSpPr>
        <p:spPr>
          <a:xfrm>
            <a:off x="164888" y="6371813"/>
            <a:ext cx="11862223" cy="342786"/>
          </a:xfrm>
          <a:prstGeom prst="rect">
            <a:avLst/>
          </a:prstGeom>
          <a:noFill/>
        </p:spPr>
        <p:txBody>
          <a:bodyPr wrap="square">
            <a:spAutoFit/>
          </a:bodyPr>
          <a:lstStyle/>
          <a:p>
            <a:pPr>
              <a:lnSpc>
                <a:spcPct val="107000"/>
              </a:lnSpc>
              <a:spcAft>
                <a:spcPts val="8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Grad-CAM enhances model transparency, aids debugging, and builds user trust, especially in critical applications such as agriculture.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EE773A40-7B4C-9CAD-05CB-B6E9D2958E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1247" y="98151"/>
            <a:ext cx="831273" cy="831273"/>
          </a:xfrm>
          <a:prstGeom prst="rect">
            <a:avLst/>
          </a:prstGeom>
        </p:spPr>
      </p:pic>
      <p:sp>
        <p:nvSpPr>
          <p:cNvPr id="11" name="Footer Placeholder 10">
            <a:extLst>
              <a:ext uri="{FF2B5EF4-FFF2-40B4-BE49-F238E27FC236}">
                <a16:creationId xmlns:a16="http://schemas.microsoft.com/office/drawing/2014/main" id="{B013B4B8-61C6-8AEF-EBE5-84F7DD0DA454}"/>
              </a:ext>
            </a:extLst>
          </p:cNvPr>
          <p:cNvSpPr>
            <a:spLocks noGrp="1"/>
          </p:cNvSpPr>
          <p:nvPr>
            <p:ph type="ftr" sz="quarter" idx="11"/>
          </p:nvPr>
        </p:nvSpPr>
        <p:spPr/>
        <p:txBody>
          <a:bodyPr/>
          <a:lstStyle/>
          <a:p>
            <a:r>
              <a:rPr lang="en-US" altLang="en-US"/>
              <a:t>Coffee Disease Detection using image classification</a:t>
            </a:r>
          </a:p>
        </p:txBody>
      </p:sp>
      <p:sp>
        <p:nvSpPr>
          <p:cNvPr id="12" name="Slide Number Placeholder 11">
            <a:extLst>
              <a:ext uri="{FF2B5EF4-FFF2-40B4-BE49-F238E27FC236}">
                <a16:creationId xmlns:a16="http://schemas.microsoft.com/office/drawing/2014/main" id="{C83FF1E1-DB7F-20CF-98BD-2263BF0F1F61}"/>
              </a:ext>
            </a:extLst>
          </p:cNvPr>
          <p:cNvSpPr>
            <a:spLocks noGrp="1"/>
          </p:cNvSpPr>
          <p:nvPr>
            <p:ph type="sldNum" sz="quarter" idx="10"/>
          </p:nvPr>
        </p:nvSpPr>
        <p:spPr/>
        <p:txBody>
          <a:bodyPr/>
          <a:lstStyle/>
          <a:p>
            <a:r>
              <a:rPr lang="en-US" altLang="en-US"/>
              <a:t>Slide 5.2- </a:t>
            </a:r>
            <a:fld id="{843FFA53-0610-41C1-9E51-2F86535B887B}" type="slidenum">
              <a:rPr lang="en-US" altLang="en-US" smtClean="0"/>
              <a:pPr/>
              <a:t>18</a:t>
            </a:fld>
            <a:endParaRPr lang="en-CA" altLang="en-US"/>
          </a:p>
        </p:txBody>
      </p:sp>
    </p:spTree>
    <p:extLst>
      <p:ext uri="{BB962C8B-B14F-4D97-AF65-F5344CB8AC3E}">
        <p14:creationId xmlns:p14="http://schemas.microsoft.com/office/powerpoint/2010/main" val="69797654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CDF434-B4AF-286C-F3C8-0AC94ED06753}"/>
              </a:ext>
            </a:extLst>
          </p:cNvPr>
          <p:cNvSpPr>
            <a:spLocks noGrp="1"/>
          </p:cNvSpPr>
          <p:nvPr>
            <p:ph type="title"/>
          </p:nvPr>
        </p:nvSpPr>
        <p:spPr>
          <a:xfrm>
            <a:off x="3112957" y="-157147"/>
            <a:ext cx="10972800" cy="1066800"/>
          </a:xfrm>
        </p:spPr>
        <p:txBody>
          <a:bodyPr/>
          <a:lstStyle/>
          <a:p>
            <a:r>
              <a:rPr lang="en-US" dirty="0"/>
              <a:t>THANK YOU – Enjoy some Coffee</a:t>
            </a:r>
          </a:p>
        </p:txBody>
      </p:sp>
      <p:pic>
        <p:nvPicPr>
          <p:cNvPr id="7" name="Content Placeholder 6">
            <a:extLst>
              <a:ext uri="{FF2B5EF4-FFF2-40B4-BE49-F238E27FC236}">
                <a16:creationId xmlns:a16="http://schemas.microsoft.com/office/drawing/2014/main" id="{929D4085-9CAD-E272-B0FF-72E83D294D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8046" y="1289154"/>
            <a:ext cx="8604354" cy="5255315"/>
          </a:xfrm>
        </p:spPr>
      </p:pic>
      <p:sp>
        <p:nvSpPr>
          <p:cNvPr id="2" name="Slide Number Placeholder 1">
            <a:extLst>
              <a:ext uri="{FF2B5EF4-FFF2-40B4-BE49-F238E27FC236}">
                <a16:creationId xmlns:a16="http://schemas.microsoft.com/office/drawing/2014/main" id="{641B0805-7D1B-6647-BD8A-4EF18445DED6}"/>
              </a:ext>
            </a:extLst>
          </p:cNvPr>
          <p:cNvSpPr>
            <a:spLocks noGrp="1"/>
          </p:cNvSpPr>
          <p:nvPr>
            <p:ph type="sldNum" sz="quarter" idx="10"/>
          </p:nvPr>
        </p:nvSpPr>
        <p:spPr/>
        <p:txBody>
          <a:bodyPr/>
          <a:lstStyle/>
          <a:p>
            <a:r>
              <a:rPr lang="en-US" altLang="en-US"/>
              <a:t>Slide 5.2- </a:t>
            </a:r>
            <a:fld id="{8CFF710D-9DE3-4D3A-8598-6A37F72BD788}" type="slidenum">
              <a:rPr lang="en-US" altLang="en-US" smtClean="0"/>
              <a:pPr/>
              <a:t>19</a:t>
            </a:fld>
            <a:endParaRPr lang="en-CA" altLang="en-US"/>
          </a:p>
        </p:txBody>
      </p:sp>
      <p:sp>
        <p:nvSpPr>
          <p:cNvPr id="8" name="Footer Placeholder 7">
            <a:extLst>
              <a:ext uri="{FF2B5EF4-FFF2-40B4-BE49-F238E27FC236}">
                <a16:creationId xmlns:a16="http://schemas.microsoft.com/office/drawing/2014/main" id="{2656096B-2FB7-8CE2-4E26-364E12CE77B2}"/>
              </a:ext>
            </a:extLst>
          </p:cNvPr>
          <p:cNvSpPr>
            <a:spLocks noGrp="1"/>
          </p:cNvSpPr>
          <p:nvPr>
            <p:ph type="ftr" sz="quarter" idx="11"/>
          </p:nvPr>
        </p:nvSpPr>
        <p:spPr/>
        <p:txBody>
          <a:bodyPr/>
          <a:lstStyle/>
          <a:p>
            <a:r>
              <a:rPr lang="en-US" altLang="en-US"/>
              <a:t>Coffee Disease Detection using image classification</a:t>
            </a:r>
          </a:p>
        </p:txBody>
      </p:sp>
    </p:spTree>
    <p:extLst>
      <p:ext uri="{BB962C8B-B14F-4D97-AF65-F5344CB8AC3E}">
        <p14:creationId xmlns:p14="http://schemas.microsoft.com/office/powerpoint/2010/main" val="4207211228"/>
      </p:ext>
    </p:extLst>
  </p:cSld>
  <p:clrMapOvr>
    <a:masterClrMapping/>
  </p:clrMapOvr>
  <p:transition spd="med"/>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Narrow"/>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Bookshelf Symbol 2" charset="0"/>
            <a:ea typeface="ＭＳ Ｐゴシック"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Bookshelf Symbol 2" charset="0"/>
            <a:ea typeface="ＭＳ Ｐゴシック"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TotalTime>
  <Words>1814</Words>
  <Application>Microsoft Office PowerPoint</Application>
  <PresentationFormat>Widescreen</PresentationFormat>
  <Paragraphs>164</Paragraphs>
  <Slides>19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Amasis MT Pro</vt:lpstr>
      <vt:lpstr>Arial</vt:lpstr>
      <vt:lpstr>Arial Narrow</vt:lpstr>
      <vt:lpstr>Bookshelf Symbol 2</vt:lpstr>
      <vt:lpstr>Calibri</vt:lpstr>
      <vt:lpstr>Calibri Light</vt:lpstr>
      <vt:lpstr>Courier New</vt:lpstr>
      <vt:lpstr>Symbol</vt:lpstr>
      <vt:lpstr>Times New Roman</vt:lpstr>
      <vt:lpstr>Wingdings</vt:lpstr>
      <vt:lpstr>Office Theme</vt:lpstr>
      <vt:lpstr>Blends</vt:lpstr>
      <vt:lpstr>             COLLEGE OF COMPUTING AND INFORMATION SCIENCES (CoCIS).   DEPARTMENT OF COMPUTER SCIENCE Course Unit: MCS 7103 – Machine Learning.  SEMISTER PROJECT Topic: Coffee Disease Detection using Image Classification Presented by:     </vt:lpstr>
      <vt:lpstr>Coffee Disease Detection using Image Classification </vt:lpstr>
      <vt:lpstr>Introduction</vt:lpstr>
      <vt:lpstr>Project Overview and Objectives</vt:lpstr>
      <vt:lpstr>Data Structure and Recommended Directory Layout</vt:lpstr>
      <vt:lpstr>Data Loading with: tf.keras.utils.image_dataset_from_directory</vt:lpstr>
      <vt:lpstr>Image Preprocessing and MobileNetV2 Input Requirements</vt:lpstr>
      <vt:lpstr>Data Augmentation Techniques and Implementation</vt:lpstr>
      <vt:lpstr>Building the Model: MobileNetV2 Base with ImageNet Weights </vt:lpstr>
      <vt:lpstr>Building the Model: MobileNetV2 Base with ImageNet Weights</vt:lpstr>
      <vt:lpstr>Custom Classification Head Design for 3 Classes </vt:lpstr>
      <vt:lpstr>Model Compilation: Loss, Optimizer, Metrics, Learning Rate </vt:lpstr>
      <vt:lpstr>Training Strategy and Callbacks</vt:lpstr>
      <vt:lpstr>Fine-Tuning Strategy and Layer Unfreezing Schedule </vt:lpstr>
      <vt:lpstr>Handling Class Imbalance and Augmentation Strategies </vt:lpstr>
      <vt:lpstr>Monitoring Training: TensorBoard Integration and Visualizations </vt:lpstr>
      <vt:lpstr>Evaluation: Confusion Matrix, Classification Report, Per-Class Metrics </vt:lpstr>
      <vt:lpstr>Model Interpretability and Explainability (Grad-CAM) </vt:lpstr>
      <vt:lpstr>THANK YOU – Enjoy some Coffee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Grace Semwezi</dc:creator>
  <cp:lastModifiedBy>Grace Semwezi</cp:lastModifiedBy>
  <cp:revision>7</cp:revision>
  <dcterms:created xsi:type="dcterms:W3CDTF">2025-12-04T15:20:56Z</dcterms:created>
  <dcterms:modified xsi:type="dcterms:W3CDTF">2025-12-05T07:16:29Z</dcterms:modified>
</cp:coreProperties>
</file>